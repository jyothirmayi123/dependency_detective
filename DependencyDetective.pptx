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4b484024-dad3-1b00-551c-082f736ebb9f}">
          <p14:sldIdLst>
            <p14:sldId id="256"/>
            <p14:sldId id="257"/>
            <p14:sldId id="258"/>
          </p14:sldIdLst>
        </p14:section>
        <p14:section name="System" id="{d3d56624-b855-7dfa-4e00-bf3844334001}">
          <p14:sldIdLst>
            <p14:sldId id="259"/>
            <p14:sldId id="260"/>
            <p14:sldId id="261"/>
            <p14:sldId id="262"/>
            <p14:sldId id="263"/>
          </p14:sldIdLst>
        </p14:section>
        <p14:section name="Analysis" id="{f998d624-c6db-bb4b-325b-d89b5106b481}">
          <p14:sldIdLst>
            <p14:sldId id="264"/>
            <p14:sldId id="265"/>
            <p14:sldId id="266"/>
            <p14:sldId id="267"/>
          </p14:sldIdLst>
        </p14:section>
        <p14:section name="Wrap-up" id="{a8132e71-8254-273f-a1a6-b1fd7326c9d3}">
          <p14:sldIdLst>
            <p14:sldId id="268"/>
            <p14:sldId id="269"/>
            <p14:sldId id="270"/>
            <p14:sldId id="271"/>
            <p14:sldId id="272"/>
            <p14:sldId id="273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">
    <p:bg>
      <p:bgPr>
        <a:solidFill>
          <a:schemeClr val="bg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75488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chemeClr val="accent6"/>
                </a:solidFill>
              </a:rPr>
              <a:t>DEPENDENCY DETECTIVE  •  SOFTWARE SUPPLY-CHAIN RISK ANALYZER</a:t>
            </a:r>
            <a:endParaRPr lang="en-US" sz="900" dirty="0"/>
          </a:p>
        </p:txBody>
      </p:sp>
      <p:sp>
        <p:nvSpPr>
          <p:cNvPr id="3" name="Text 1"/>
          <p:cNvSpPr/>
          <p:nvPr>
            <p:ph idx="101" type="body" hasCustomPrompt="1"/>
          </p:nvPr>
        </p:nvSpPr>
        <p:spPr>
          <a:xfrm>
            <a:off x="1188720" y="310896"/>
            <a:ext cx="5486400" cy="201168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100" b="1" spc="300" kern="0" dirty="0">
                <a:solidFill>
                  <a:schemeClr val="accent2"/>
                </a:solidFill>
              </a:defRPr>
            </a:lvl1pPr>
          </a:lstStyle>
          <a:p>
            <a:pPr indent="0" marL="0">
              <a:buNone/>
            </a:pPr>
            <a:endParaRPr lang="en-US" sz="1100" dirty="0"/>
          </a:p>
        </p:txBody>
      </p:sp>
      <p:sp>
        <p:nvSpPr>
          <p:cNvPr id="4" name="Text 1"/>
          <p:cNvSpPr/>
          <p:nvPr>
            <p:ph idx="102" type="title" hasCustomPrompt="1"/>
          </p:nvPr>
        </p:nvSpPr>
        <p:spPr>
          <a:xfrm>
            <a:off x="1188720" y="530352"/>
            <a:ext cx="7498080" cy="4572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2"/>
                </a:solidFill>
              </a:defRPr>
            </a:lvl1pPr>
          </a:lstStyle>
          <a:p>
            <a:pPr algn="r"/>
            <a:fld id="{F7021451-1387-4CA6-816F-3879F97B5CBC}" type="slidenum">
              <a:rPr b="1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75488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chemeClr val="bg2"/>
                </a:solidFill>
              </a:rPr>
              <a:t>DEPENDENCY DETECTIVE  •  SOFTWARE SUPPLY-CHAIN RISK ANALYZER</a:t>
            </a:r>
            <a:endParaRPr lang="en-US" sz="900" dirty="0"/>
          </a:p>
        </p:txBody>
      </p:sp>
      <p:sp>
        <p:nvSpPr>
          <p:cNvPr id="3" name="Text 1"/>
          <p:cNvSpPr/>
          <p:nvPr>
            <p:ph idx="101" type="body" hasCustomPrompt="1"/>
          </p:nvPr>
        </p:nvSpPr>
        <p:spPr>
          <a:xfrm>
            <a:off x="1188720" y="310896"/>
            <a:ext cx="5486400" cy="201168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100" b="1" spc="300" kern="0" dirty="0">
                <a:solidFill>
                  <a:schemeClr val="accent1"/>
                </a:solidFill>
              </a:defRPr>
            </a:lvl1pPr>
          </a:lstStyle>
          <a:p>
            <a:pPr indent="0" marL="0">
              <a:buNone/>
            </a:pPr>
            <a:endParaRPr lang="en-US" sz="1100" dirty="0"/>
          </a:p>
        </p:txBody>
      </p:sp>
      <p:sp>
        <p:nvSpPr>
          <p:cNvPr id="4" name="Text 1"/>
          <p:cNvSpPr/>
          <p:nvPr>
            <p:ph idx="102" type="title" hasCustomPrompt="1"/>
          </p:nvPr>
        </p:nvSpPr>
        <p:spPr>
          <a:xfrm>
            <a:off x="1188720" y="530352"/>
            <a:ext cx="7498080" cy="4572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1"/>
                </a:solidFill>
              </a:defRPr>
            </a:lvl1pPr>
          </a:lstStyle>
          <a:p>
            <a:pPr algn="r"/>
            <a:fld id="{F7021451-1387-4CA6-816F-3879F97B5CBC}" type="slidenum">
              <a:rPr b="1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RONT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40080" y="1051560"/>
            <a:ext cx="512064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200" b="1" spc="400" kern="0" dirty="0">
                <a:solidFill>
                  <a:schemeClr val="accent1"/>
                </a:solidFill>
              </a:defRPr>
            </a:lvl1pPr>
          </a:lstStyle>
          <a:p>
            <a:pPr indent="0" marL="0">
              <a:buNone/>
            </a:pP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40080" y="1417320"/>
            <a:ext cx="5120640" cy="16002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6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6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640080" y="3154680"/>
            <a:ext cx="475488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500" dirty="0">
                <a:solidFill>
                  <a:schemeClr val="bg2"/>
                </a:solidFill>
              </a:defRPr>
            </a:lvl1pPr>
          </a:lstStyle>
          <a:p>
            <a:pPr indent="0" marL="0">
              <a:buNone/>
            </a:pPr>
            <a:endParaRPr lang="en-US" sz="1500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E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40080" y="1051560"/>
            <a:ext cx="512064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200" b="1" spc="400" kern="0" dirty="0">
                <a:solidFill>
                  <a:schemeClr val="accent1"/>
                </a:solidFill>
              </a:defRPr>
            </a:lvl1pPr>
          </a:lstStyle>
          <a:p>
            <a:pPr indent="0" marL="0">
              <a:buNone/>
            </a:pP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40080" y="1417320"/>
            <a:ext cx="512064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6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6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640080" y="2377440"/>
            <a:ext cx="475488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500" dirty="0">
                <a:solidFill>
                  <a:schemeClr val="bg2"/>
                </a:solidFill>
              </a:defRPr>
            </a:lvl1pPr>
          </a:lstStyle>
          <a:p>
            <a:pPr indent="0" marL="0">
              <a:buNone/>
            </a:pP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1"/>
                </a:solidFill>
              </a:defRPr>
            </a:lvl1pPr>
          </a:lstStyle>
          <a:p>
            <a:pPr algn="r"/>
            <a:fld id="{F7021451-1387-4CA6-816F-3879F97B5CBC}" type="slidenum">
              <a:rPr b="1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2"/>
                </a:solidFill>
              </a:defRPr>
            </a:lvl1pPr>
          </a:lstStyle>
          <a:p>
            <a:pPr algn="r"/>
            <a:fld id="{F7021451-1387-4CA6-816F-3879F97B5CBC}" type="slidenum">
              <a:rPr b="1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slideLayout" Target="../slideLayouts/slideLayout4.xml"/><Relationship Id="rId7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image" Target="../media/image-2-8.png"/><Relationship Id="rId9" Type="http://schemas.openxmlformats.org/officeDocument/2006/relationships/image" Target="../media/image-2-9.png"/><Relationship Id="rId10" Type="http://schemas.openxmlformats.org/officeDocument/2006/relationships/slideLayout" Target="../slideLayouts/slideLayout2.xml"/><Relationship Id="rId11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image" Target="../media/image-4-8.png"/><Relationship Id="rId9" Type="http://schemas.openxmlformats.org/officeDocument/2006/relationships/image" Target="../media/image-4-9.png"/><Relationship Id="rId10" Type="http://schemas.openxmlformats.org/officeDocument/2006/relationships/image" Target="../media/image-4-10.png"/><Relationship Id="rId11" Type="http://schemas.openxmlformats.org/officeDocument/2006/relationships/image" Target="../media/image-4-11.png"/><Relationship Id="rId12" Type="http://schemas.openxmlformats.org/officeDocument/2006/relationships/image" Target="../media/image-4-12.png"/><Relationship Id="rId13" Type="http://schemas.openxmlformats.org/officeDocument/2006/relationships/slideLayout" Target="../slideLayouts/slideLayout2.xml"/><Relationship Id="rId1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image" Target="../media/image-6-7.png"/><Relationship Id="rId8" Type="http://schemas.openxmlformats.org/officeDocument/2006/relationships/slideLayout" Target="../slideLayouts/slideLayout2.xml"/><Relationship Id="rId9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image" Target="../media/image-13-5.png"/><Relationship Id="rId6" Type="http://schemas.openxmlformats.org/officeDocument/2006/relationships/image" Target="../media/image-13-6.png"/><Relationship Id="rId7" Type="http://schemas.openxmlformats.org/officeDocument/2006/relationships/image" Target="../media/image-13-7.png"/><Relationship Id="rId8" Type="http://schemas.openxmlformats.org/officeDocument/2006/relationships/slideLayout" Target="../slideLayouts/slideLayout2.xml"/><Relationship Id="rId9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image" Target="../media/image-15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image" Target="../media/image-16-4.png"/><Relationship Id="rId5" Type="http://schemas.openxmlformats.org/officeDocument/2006/relationships/image" Target="../media/image-16-5.png"/><Relationship Id="rId6" Type="http://schemas.openxmlformats.org/officeDocument/2006/relationships/image" Target="../media/image-16-6.pn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40080" y="105156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chemeClr val="accent1"/>
                </a:solidFill>
              </a:rPr>
              <a:t>SOFTWARE SUPPLY-CHAIN SECURITY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40080" y="1417320"/>
            <a:ext cx="512064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600" b="1" dirty="0">
                <a:solidFill>
                  <a:schemeClr val="bg1"/>
                </a:solidFill>
              </a:rPr>
              <a:t>DEPENDENCY</a:t>
            </a:r>
            <a:endParaRPr lang="en-US" sz="4600" dirty="0"/>
          </a:p>
          <a:p>
            <a:pPr algn="l" indent="0" marL="0">
              <a:buNone/>
            </a:pPr>
            <a:r>
              <a:rPr lang="en-US" sz="4600" b="1" dirty="0">
                <a:solidFill>
                  <a:schemeClr val="bg1"/>
                </a:solidFill>
              </a:rPr>
              <a:t>DETECTIVE</a:t>
            </a:r>
            <a:endParaRPr lang="en-US" sz="46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640080" y="3154680"/>
            <a:ext cx="4754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bg2"/>
                </a:solidFill>
              </a:rPr>
              <a:t>Upload dependency files across programming languages to find known risks, review fixes, and export reports.</a:t>
            </a:r>
            <a:endParaRPr lang="en-US" sz="1500" dirty="0"/>
          </a:p>
        </p:txBody>
      </p:sp>
      <p:sp>
        <p:nvSpPr>
          <p:cNvPr id="5" name="Tag chip"/>
          <p:cNvSpPr/>
          <p:nvPr/>
        </p:nvSpPr>
        <p:spPr>
          <a:xfrm>
            <a:off x="640080" y="4069080"/>
            <a:ext cx="2834640" cy="365760"/>
          </a:xfrm>
          <a:prstGeom prst="roundRect">
            <a:avLst>
              <a:gd name="adj" fmla="val 25000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" y="406908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chemeClr val="accent1"/>
                </a:solidFill>
              </a:rPr>
              <a:t>MULTI-LANGUAGE  •  OSV.DEV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45720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bg2"/>
                </a:solidFill>
              </a:rPr>
              <a:t>Project Presentation  •  2026</a:t>
            </a:r>
            <a:endParaRPr lang="en-US" sz="1100" dirty="0"/>
          </a:p>
        </p:txBody>
      </p:sp>
      <p:sp>
        <p:nvSpPr>
          <p:cNvPr id="8" name="Orbit outer"/>
          <p:cNvSpPr/>
          <p:nvPr/>
        </p:nvSpPr>
        <p:spPr>
          <a:xfrm>
            <a:off x="5760720" y="777240"/>
            <a:ext cx="3108960" cy="3108960"/>
          </a:xfrm>
          <a:prstGeom prst="ellipse">
            <a:avLst/>
          </a:prstGeom>
          <a:solidFill>
            <a:schemeClr val="tx1"/>
          </a:solidFill>
          <a:ln w="25400">
            <a:solidFill>
              <a:schemeClr val="tx2"/>
            </a:solidFill>
            <a:prstDash val="solid"/>
          </a:ln>
        </p:spPr>
      </p:sp>
      <p:sp>
        <p:nvSpPr>
          <p:cNvPr id="9" name="Orbit core"/>
          <p:cNvSpPr/>
          <p:nvPr/>
        </p:nvSpPr>
        <p:spPr>
          <a:xfrm>
            <a:off x="6355080" y="1371600"/>
            <a:ext cx="1920240" cy="192024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0" name="Shield icon" descr="Shiel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0" y="1828800"/>
            <a:ext cx="914400" cy="914400"/>
          </a:xfrm>
          <a:prstGeom prst="rect">
            <a:avLst/>
          </a:prstGeom>
        </p:spPr>
      </p:pic>
      <p:sp>
        <p:nvSpPr>
          <p:cNvPr id="11" name="Orbit icon 1 box"/>
          <p:cNvSpPr/>
          <p:nvPr/>
        </p:nvSpPr>
        <p:spPr>
          <a:xfrm>
            <a:off x="6903720" y="548640"/>
            <a:ext cx="457200" cy="457200"/>
          </a:xfrm>
          <a:prstGeom prst="roundRect">
            <a:avLst>
              <a:gd name="adj" fmla="val 20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2" name="Orbit icon 1" descr="Orbit icon 1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18020" y="662940"/>
            <a:ext cx="228600" cy="228600"/>
          </a:xfrm>
          <a:prstGeom prst="rect">
            <a:avLst/>
          </a:prstGeom>
        </p:spPr>
      </p:pic>
      <p:sp>
        <p:nvSpPr>
          <p:cNvPr id="13" name="Orbit icon 2 box"/>
          <p:cNvSpPr/>
          <p:nvPr/>
        </p:nvSpPr>
        <p:spPr>
          <a:xfrm>
            <a:off x="8641080" y="1783080"/>
            <a:ext cx="457200" cy="457200"/>
          </a:xfrm>
          <a:prstGeom prst="roundRect">
            <a:avLst>
              <a:gd name="adj" fmla="val 20000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4" name="Orbit icon 2" descr="Orbit icon 2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55380" y="1897380"/>
            <a:ext cx="228600" cy="228600"/>
          </a:xfrm>
          <a:prstGeom prst="rect">
            <a:avLst/>
          </a:prstGeom>
        </p:spPr>
      </p:pic>
      <p:sp>
        <p:nvSpPr>
          <p:cNvPr id="15" name="Orbit icon 3 box"/>
          <p:cNvSpPr/>
          <p:nvPr/>
        </p:nvSpPr>
        <p:spPr>
          <a:xfrm>
            <a:off x="6903720" y="3611880"/>
            <a:ext cx="457200" cy="457200"/>
          </a:xfrm>
          <a:prstGeom prst="roundRect">
            <a:avLst>
              <a:gd name="adj" fmla="val 20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6" name="Orbit icon 3" descr="Orbit icon 3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18020" y="3726180"/>
            <a:ext cx="228600" cy="228600"/>
          </a:xfrm>
          <a:prstGeom prst="rect">
            <a:avLst/>
          </a:prstGeom>
        </p:spPr>
      </p:pic>
      <p:sp>
        <p:nvSpPr>
          <p:cNvPr id="17" name="Orbit icon 4 box"/>
          <p:cNvSpPr/>
          <p:nvPr/>
        </p:nvSpPr>
        <p:spPr>
          <a:xfrm>
            <a:off x="5166360" y="1783080"/>
            <a:ext cx="457200" cy="457200"/>
          </a:xfrm>
          <a:prstGeom prst="roundRect">
            <a:avLst>
              <a:gd name="adj" fmla="val 20000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8" name="Orbit icon 4" descr="Orbit icon 4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80660" y="1897380"/>
            <a:ext cx="228600" cy="2286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1188720" y="310896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chemeClr val="accent2"/>
                </a:solidFill>
              </a:rPr>
              <a:t>OVERVIEW</a:t>
            </a:r>
            <a:endParaRPr lang="en-US" sz="11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1188720" y="530352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Introduction</a:t>
            </a:r>
            <a:endParaRPr lang="en-US" sz="2800" dirty="0"/>
          </a:p>
        </p:txBody>
      </p:sp>
      <p:sp>
        <p:nvSpPr>
          <p:cNvPr id="4" name="Section badge"/>
          <p:cNvSpPr/>
          <p:nvPr/>
        </p:nvSpPr>
        <p:spPr>
          <a:xfrm>
            <a:off x="457200" y="329184"/>
            <a:ext cx="566928" cy="566928"/>
          </a:xfrm>
          <a:prstGeom prst="roundRect">
            <a:avLst>
              <a:gd name="adj" fmla="val 16129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329184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01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2801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2"/>
                </a:solidFill>
              </a:rPr>
              <a:t>What is Dependency Detective?</a:t>
            </a:r>
            <a:endParaRPr lang="en-US" sz="1800" dirty="0"/>
          </a:p>
        </p:txBody>
      </p:sp>
      <p:sp>
        <p:nvSpPr>
          <p:cNvPr id="7" name="Intro card 1"/>
          <p:cNvSpPr/>
          <p:nvPr/>
        </p:nvSpPr>
        <p:spPr>
          <a:xfrm>
            <a:off x="457200" y="1737360"/>
            <a:ext cx="2743200" cy="1325880"/>
          </a:xfrm>
          <a:prstGeom prst="roundRect">
            <a:avLst>
              <a:gd name="adj" fmla="val 6897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27000" dist="25400" dir="5400000">
              <a:srgbClr val="0A1F44">
                <a:alpha val="12000"/>
              </a:srgbClr>
            </a:outerShdw>
          </a:effectLst>
        </p:spPr>
      </p:sp>
      <p:sp>
        <p:nvSpPr>
          <p:cNvPr id="8" name="Intro icon 1 box"/>
          <p:cNvSpPr/>
          <p:nvPr/>
        </p:nvSpPr>
        <p:spPr>
          <a:xfrm>
            <a:off x="621792" y="1874520"/>
            <a:ext cx="365760" cy="365760"/>
          </a:xfrm>
          <a:prstGeom prst="roundRect">
            <a:avLst>
              <a:gd name="adj" fmla="val 25000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9" name="Intro icon 1" descr="Intro icon 1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232" y="1965960"/>
            <a:ext cx="182880" cy="182880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621792" y="2331720"/>
            <a:ext cx="2423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A software supply-chain risk analyzer for projects across multiple programming languages.</a:t>
            </a:r>
            <a:endParaRPr lang="en-US" sz="1300" dirty="0"/>
          </a:p>
        </p:txBody>
      </p:sp>
      <p:sp>
        <p:nvSpPr>
          <p:cNvPr id="11" name="Intro card 2"/>
          <p:cNvSpPr/>
          <p:nvPr/>
        </p:nvSpPr>
        <p:spPr>
          <a:xfrm>
            <a:off x="3337560" y="1737360"/>
            <a:ext cx="2743200" cy="1325880"/>
          </a:xfrm>
          <a:prstGeom prst="roundRect">
            <a:avLst>
              <a:gd name="adj" fmla="val 6897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27000" dist="25400" dir="5400000">
              <a:srgbClr val="0A1F44">
                <a:alpha val="12000"/>
              </a:srgbClr>
            </a:outerShdw>
          </a:effectLst>
        </p:spPr>
      </p:sp>
      <p:sp>
        <p:nvSpPr>
          <p:cNvPr id="12" name="Intro icon 2 box"/>
          <p:cNvSpPr/>
          <p:nvPr/>
        </p:nvSpPr>
        <p:spPr>
          <a:xfrm>
            <a:off x="3502152" y="1874520"/>
            <a:ext cx="365760" cy="365760"/>
          </a:xfrm>
          <a:prstGeom prst="roundRect">
            <a:avLst>
              <a:gd name="adj" fmla="val 25000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3" name="Intro icon 2" descr="Intro icon 2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93592" y="1965960"/>
            <a:ext cx="182880" cy="182880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3502152" y="2331720"/>
            <a:ext cx="2423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Accepts supported dependency files and checks package versions against security advisory data.</a:t>
            </a:r>
            <a:endParaRPr lang="en-US" sz="1300" dirty="0"/>
          </a:p>
        </p:txBody>
      </p:sp>
      <p:sp>
        <p:nvSpPr>
          <p:cNvPr id="15" name="Intro card 3"/>
          <p:cNvSpPr/>
          <p:nvPr/>
        </p:nvSpPr>
        <p:spPr>
          <a:xfrm>
            <a:off x="457200" y="3200400"/>
            <a:ext cx="2743200" cy="1325880"/>
          </a:xfrm>
          <a:prstGeom prst="roundRect">
            <a:avLst>
              <a:gd name="adj" fmla="val 6897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27000" dist="25400" dir="5400000">
              <a:srgbClr val="0A1F44">
                <a:alpha val="12000"/>
              </a:srgbClr>
            </a:outerShdw>
          </a:effectLst>
        </p:spPr>
      </p:sp>
      <p:sp>
        <p:nvSpPr>
          <p:cNvPr id="16" name="Intro icon 3 box"/>
          <p:cNvSpPr/>
          <p:nvPr/>
        </p:nvSpPr>
        <p:spPr>
          <a:xfrm>
            <a:off x="621792" y="3337560"/>
            <a:ext cx="365760" cy="365760"/>
          </a:xfrm>
          <a:prstGeom prst="roundRect">
            <a:avLst>
              <a:gd name="adj" fmla="val 25000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7" name="Intro icon 3" descr="Intro icon 3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" y="3429000"/>
            <a:ext cx="182880" cy="182880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621792" y="3794760"/>
            <a:ext cx="2423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Reports confirmed matches, incomplete checks, and supported upgrade suggestions.</a:t>
            </a:r>
            <a:endParaRPr lang="en-US" sz="1300" dirty="0"/>
          </a:p>
        </p:txBody>
      </p:sp>
      <p:sp>
        <p:nvSpPr>
          <p:cNvPr id="19" name="Intro card 4"/>
          <p:cNvSpPr/>
          <p:nvPr/>
        </p:nvSpPr>
        <p:spPr>
          <a:xfrm>
            <a:off x="3337560" y="3200400"/>
            <a:ext cx="2743200" cy="1325880"/>
          </a:xfrm>
          <a:prstGeom prst="roundRect">
            <a:avLst>
              <a:gd name="adj" fmla="val 6897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27000" dist="25400" dir="5400000">
              <a:srgbClr val="0A1F44">
                <a:alpha val="12000"/>
              </a:srgbClr>
            </a:outerShdw>
          </a:effectLst>
        </p:spPr>
      </p:sp>
      <p:sp>
        <p:nvSpPr>
          <p:cNvPr id="20" name="Intro icon 4 box"/>
          <p:cNvSpPr/>
          <p:nvPr/>
        </p:nvSpPr>
        <p:spPr>
          <a:xfrm>
            <a:off x="3502152" y="3337560"/>
            <a:ext cx="365760" cy="365760"/>
          </a:xfrm>
          <a:prstGeom prst="roundRect">
            <a:avLst>
              <a:gd name="adj" fmla="val 25000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21" name="Intro icon 4" descr="Intro icon 4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93592" y="3429000"/>
            <a:ext cx="182880" cy="182880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3502152" y="3794760"/>
            <a:ext cx="2423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Helps developers prioritize investigation instead of manually checking every package.</a:t>
            </a:r>
            <a:endParaRPr lang="en-US" sz="1300" dirty="0"/>
          </a:p>
        </p:txBody>
      </p:sp>
      <p:sp>
        <p:nvSpPr>
          <p:cNvPr id="23" name="Flow panel"/>
          <p:cNvSpPr/>
          <p:nvPr/>
        </p:nvSpPr>
        <p:spPr>
          <a:xfrm>
            <a:off x="6355080" y="1280160"/>
            <a:ext cx="2331720" cy="3337560"/>
          </a:xfrm>
          <a:prstGeom prst="roundRect">
            <a:avLst>
              <a:gd name="adj" fmla="val 3922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  <a:effectLst>
            <a:outerShdw sx="100000" sy="100000" kx="0" ky="0" algn="bl" rotWithShape="0" blurRad="127000" dist="25400" dir="5400000">
              <a:srgbClr val="0A1F44">
                <a:alpha val="12000"/>
              </a:srgbClr>
            </a:outerShdw>
          </a:effectLst>
        </p:spPr>
      </p:sp>
      <p:sp>
        <p:nvSpPr>
          <p:cNvPr id="24" name="Flow icon INPUT box"/>
          <p:cNvSpPr/>
          <p:nvPr/>
        </p:nvSpPr>
        <p:spPr>
          <a:xfrm>
            <a:off x="6537960" y="1463040"/>
            <a:ext cx="502920" cy="502920"/>
          </a:xfrm>
          <a:prstGeom prst="roundRect">
            <a:avLst>
              <a:gd name="adj" fmla="val 18182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25" name="Flow icon INPUT" descr="Flow icon INPUT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63690" y="1588770"/>
            <a:ext cx="251460" cy="251460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7178040" y="1463040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1"/>
                </a:solidFill>
              </a:rPr>
              <a:t>INPUT</a:t>
            </a:r>
            <a:endParaRPr lang="en-US" sz="1100" dirty="0"/>
          </a:p>
        </p:txBody>
      </p:sp>
      <p:sp>
        <p:nvSpPr>
          <p:cNvPr id="27" name="Text 20"/>
          <p:cNvSpPr txBox="1"/>
          <p:nvPr/>
        </p:nvSpPr>
        <p:spPr>
          <a:xfrm>
            <a:off x="7178040" y="1682496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Dependency files</a:t>
            </a:r>
            <a:endParaRPr lang="en-US" sz="1300" dirty="0"/>
          </a:p>
        </p:txBody>
      </p:sp>
      <p:pic>
        <p:nvPicPr>
          <p:cNvPr id="28" name="Flow arrow 1" descr="Next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02552" y="2057400"/>
            <a:ext cx="182880" cy="182880"/>
          </a:xfrm>
          <a:prstGeom prst="rect">
            <a:avLst/>
          </a:prstGeom>
        </p:spPr>
      </p:pic>
      <p:sp>
        <p:nvSpPr>
          <p:cNvPr id="29" name="Flow icon ANALYSIS box"/>
          <p:cNvSpPr/>
          <p:nvPr/>
        </p:nvSpPr>
        <p:spPr>
          <a:xfrm>
            <a:off x="6537960" y="2514600"/>
            <a:ext cx="502920" cy="502920"/>
          </a:xfrm>
          <a:prstGeom prst="roundRect">
            <a:avLst>
              <a:gd name="adj" fmla="val 18182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30" name="Flow icon ANALYSIS" descr="Flow icon ANALYSIS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63690" y="2640330"/>
            <a:ext cx="251460" cy="251460"/>
          </a:xfrm>
          <a:prstGeom prst="rect">
            <a:avLst/>
          </a:prstGeom>
        </p:spPr>
      </p:pic>
      <p:sp>
        <p:nvSpPr>
          <p:cNvPr id="31" name="Text 22"/>
          <p:cNvSpPr txBox="1"/>
          <p:nvPr/>
        </p:nvSpPr>
        <p:spPr>
          <a:xfrm>
            <a:off x="7178040" y="2514600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1"/>
                </a:solidFill>
              </a:rPr>
              <a:t>ANALYSIS</a:t>
            </a:r>
            <a:endParaRPr lang="en-US" sz="1100" dirty="0"/>
          </a:p>
        </p:txBody>
      </p:sp>
      <p:sp>
        <p:nvSpPr>
          <p:cNvPr id="32" name="Text 23"/>
          <p:cNvSpPr txBox="1"/>
          <p:nvPr/>
        </p:nvSpPr>
        <p:spPr>
          <a:xfrm>
            <a:off x="7178040" y="2734056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Package version + advisory matching</a:t>
            </a:r>
            <a:endParaRPr lang="en-US" sz="1300" dirty="0"/>
          </a:p>
        </p:txBody>
      </p:sp>
      <p:pic>
        <p:nvPicPr>
          <p:cNvPr id="33" name="Flow arrow 2" descr="Next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702552" y="3108960"/>
            <a:ext cx="182880" cy="182880"/>
          </a:xfrm>
          <a:prstGeom prst="rect">
            <a:avLst/>
          </a:prstGeom>
        </p:spPr>
      </p:pic>
      <p:sp>
        <p:nvSpPr>
          <p:cNvPr id="34" name="Flow icon OUTPUT box"/>
          <p:cNvSpPr/>
          <p:nvPr/>
        </p:nvSpPr>
        <p:spPr>
          <a:xfrm>
            <a:off x="6537960" y="3566160"/>
            <a:ext cx="502920" cy="502920"/>
          </a:xfrm>
          <a:prstGeom prst="roundRect">
            <a:avLst>
              <a:gd name="adj" fmla="val 18182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35" name="Flow icon OUTPUT" descr="Flow icon OUTPUT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663690" y="3691890"/>
            <a:ext cx="251460" cy="251460"/>
          </a:xfrm>
          <a:prstGeom prst="rect">
            <a:avLst/>
          </a:prstGeom>
        </p:spPr>
      </p:pic>
      <p:sp>
        <p:nvSpPr>
          <p:cNvPr id="36" name="Text 25"/>
          <p:cNvSpPr txBox="1"/>
          <p:nvPr/>
        </p:nvSpPr>
        <p:spPr>
          <a:xfrm>
            <a:off x="7178040" y="3566160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1"/>
                </a:solidFill>
              </a:rPr>
              <a:t>OUTPUT</a:t>
            </a:r>
            <a:endParaRPr lang="en-US" sz="1100" dirty="0"/>
          </a:p>
        </p:txBody>
      </p:sp>
      <p:sp>
        <p:nvSpPr>
          <p:cNvPr id="37" name="Text 26"/>
          <p:cNvSpPr txBox="1"/>
          <p:nvPr/>
        </p:nvSpPr>
        <p:spPr>
          <a:xfrm>
            <a:off x="7178040" y="3785616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Findings, fixes, charts, reports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2"/>
                </a:solidFill>
              </a:defRPr>
            </a:lvl1pPr>
          </a:lstStyle>
          <a:p>
            <a:pPr algn="r"/>
            <a:fld id="{F7021451-1387-4CA6-816F-3879F97B5CBC}" type="slidenum">
              <a:rPr b="1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1188720" y="310896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chemeClr val="accent2"/>
                </a:solidFill>
              </a:rPr>
              <a:t>PURPOSE</a:t>
            </a:r>
            <a:endParaRPr lang="en-US" sz="11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1188720" y="530352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Problem Statement and Objectives</a:t>
            </a:r>
            <a:endParaRPr lang="en-US" sz="2800" dirty="0"/>
          </a:p>
        </p:txBody>
      </p:sp>
      <p:sp>
        <p:nvSpPr>
          <p:cNvPr id="4" name="Section badge"/>
          <p:cNvSpPr/>
          <p:nvPr/>
        </p:nvSpPr>
        <p:spPr>
          <a:xfrm>
            <a:off x="457200" y="329184"/>
            <a:ext cx="566928" cy="566928"/>
          </a:xfrm>
          <a:prstGeom prst="roundRect">
            <a:avLst>
              <a:gd name="adj" fmla="val 16129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329184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02</a:t>
            </a:r>
            <a:endParaRPr lang="en-US" sz="1800" dirty="0"/>
          </a:p>
        </p:txBody>
      </p:sp>
      <p:sp>
        <p:nvSpPr>
          <p:cNvPr id="6" name="Problem card"/>
          <p:cNvSpPr/>
          <p:nvPr/>
        </p:nvSpPr>
        <p:spPr>
          <a:xfrm>
            <a:off x="457200" y="1280160"/>
            <a:ext cx="3291840" cy="3337560"/>
          </a:xfrm>
          <a:prstGeom prst="roundRect">
            <a:avLst>
              <a:gd name="adj" fmla="val 2778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  <a:effectLst>
            <a:outerShdw sx="100000" sy="100000" kx="0" ky="0" algn="bl" rotWithShape="0" blurRad="127000" dist="25400" dir="5400000">
              <a:srgbClr val="0A1F44">
                <a:alpha val="12000"/>
              </a:srgbClr>
            </a:outerShdw>
          </a:effectLst>
        </p:spPr>
      </p:sp>
      <p:sp>
        <p:nvSpPr>
          <p:cNvPr id="7" name="Problem icon box"/>
          <p:cNvSpPr/>
          <p:nvPr/>
        </p:nvSpPr>
        <p:spPr>
          <a:xfrm>
            <a:off x="685800" y="1508760"/>
            <a:ext cx="548640" cy="548640"/>
          </a:xfrm>
          <a:prstGeom prst="roundRect">
            <a:avLst>
              <a:gd name="adj" fmla="val 16667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8" name="Problem icon" descr="Problem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645920"/>
            <a:ext cx="274320" cy="274320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685800" y="224028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chemeClr val="accent1"/>
                </a:solidFill>
              </a:rPr>
              <a:t>PROBLEM STATEMENT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685800" y="2606040"/>
            <a:ext cx="28346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Projects use external packages that may contain known vulnerabilities. Developers need clear evidence about affected versions and available fixes.</a:t>
            </a:r>
            <a:endParaRPr lang="en-US" sz="1500" dirty="0"/>
          </a:p>
        </p:txBody>
      </p:sp>
      <p:sp>
        <p:nvSpPr>
          <p:cNvPr id="11" name="Objectives card"/>
          <p:cNvSpPr/>
          <p:nvPr/>
        </p:nvSpPr>
        <p:spPr>
          <a:xfrm>
            <a:off x="3931920" y="1280160"/>
            <a:ext cx="4754880" cy="1280160"/>
          </a:xfrm>
          <a:prstGeom prst="roundRect">
            <a:avLst>
              <a:gd name="adj" fmla="val 7143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27000" dist="25400" dir="5400000">
              <a:srgbClr val="0A1F44">
                <a:alpha val="12000"/>
              </a:srgbClr>
            </a:outerShdw>
          </a:effectLst>
        </p:spPr>
      </p:sp>
      <p:sp>
        <p:nvSpPr>
          <p:cNvPr id="12" name="Objectives icon box"/>
          <p:cNvSpPr/>
          <p:nvPr/>
        </p:nvSpPr>
        <p:spPr>
          <a:xfrm>
            <a:off x="4114800" y="1417320"/>
            <a:ext cx="384048" cy="384048"/>
          </a:xfrm>
          <a:prstGeom prst="roundRect">
            <a:avLst>
              <a:gd name="adj" fmla="val 23810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3" name="Objectives icon" descr="Objectives ico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10812" y="1513332"/>
            <a:ext cx="192024" cy="192024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4663440" y="1417320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chemeClr val="accent2"/>
                </a:solidFill>
              </a:rPr>
              <a:t>PROJECT OBJECTIVES</a:t>
            </a:r>
            <a:endParaRPr lang="en-US" sz="1300" dirty="0"/>
          </a:p>
        </p:txBody>
      </p:sp>
      <p:sp>
        <p:nvSpPr>
          <p:cNvPr id="15" name="Text 11"/>
          <p:cNvSpPr txBox="1"/>
          <p:nvPr/>
        </p:nvSpPr>
        <p:spPr>
          <a:xfrm>
            <a:off x="4114800" y="1847088"/>
            <a:ext cx="4434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Parse requirements files, match exact versions to advisory data, recommend only evidence-supported upgrades, and produce reusable reports.</a:t>
            </a:r>
            <a:endParaRPr lang="en-US" sz="1200" dirty="0"/>
          </a:p>
        </p:txBody>
      </p:sp>
      <p:sp>
        <p:nvSpPr>
          <p:cNvPr id="16" name="Text 12"/>
          <p:cNvSpPr txBox="1"/>
          <p:nvPr/>
        </p:nvSpPr>
        <p:spPr>
          <a:xfrm>
            <a:off x="3931920" y="26517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Key objectives</a:t>
            </a:r>
            <a:endParaRPr lang="en-US" sz="1600" dirty="0"/>
          </a:p>
        </p:txBody>
      </p:sp>
      <p:sp>
        <p:nvSpPr>
          <p:cNvPr id="17" name="Objective row 1"/>
          <p:cNvSpPr/>
          <p:nvPr/>
        </p:nvSpPr>
        <p:spPr>
          <a:xfrm>
            <a:off x="3931920" y="2971800"/>
            <a:ext cx="4754880" cy="502920"/>
          </a:xfrm>
          <a:prstGeom prst="roundRect">
            <a:avLst>
              <a:gd name="adj" fmla="val 18182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27000" dist="25400" dir="5400000">
              <a:srgbClr val="0A1F44">
                <a:alpha val="12000"/>
              </a:srgbClr>
            </a:outerShdw>
          </a:effectLst>
        </p:spPr>
      </p:sp>
      <p:sp>
        <p:nvSpPr>
          <p:cNvPr id="18" name="Objective number 1"/>
          <p:cNvSpPr/>
          <p:nvPr/>
        </p:nvSpPr>
        <p:spPr>
          <a:xfrm>
            <a:off x="4023360" y="3044952"/>
            <a:ext cx="365760" cy="365760"/>
          </a:xfrm>
          <a:prstGeom prst="roundRect">
            <a:avLst>
              <a:gd name="adj" fmla="val 25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9" name="Text 15"/>
          <p:cNvSpPr txBox="1"/>
          <p:nvPr/>
        </p:nvSpPr>
        <p:spPr>
          <a:xfrm>
            <a:off x="4023360" y="304495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1</a:t>
            </a:r>
            <a:endParaRPr lang="en-US" sz="1400" dirty="0"/>
          </a:p>
        </p:txBody>
      </p:sp>
      <p:sp>
        <p:nvSpPr>
          <p:cNvPr id="20" name="Text 16"/>
          <p:cNvSpPr txBox="1"/>
          <p:nvPr/>
        </p:nvSpPr>
        <p:spPr>
          <a:xfrm>
            <a:off x="4526280" y="2971800"/>
            <a:ext cx="4069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Separate confirmed findings from unresolved or unavailable checks.</a:t>
            </a:r>
            <a:endParaRPr lang="en-US" sz="1300" dirty="0"/>
          </a:p>
        </p:txBody>
      </p:sp>
      <p:sp>
        <p:nvSpPr>
          <p:cNvPr id="21" name="Objective row 2"/>
          <p:cNvSpPr/>
          <p:nvPr/>
        </p:nvSpPr>
        <p:spPr>
          <a:xfrm>
            <a:off x="3931920" y="3538728"/>
            <a:ext cx="4754880" cy="502920"/>
          </a:xfrm>
          <a:prstGeom prst="roundRect">
            <a:avLst>
              <a:gd name="adj" fmla="val 18182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27000" dist="25400" dir="5400000">
              <a:srgbClr val="0A1F44">
                <a:alpha val="12000"/>
              </a:srgbClr>
            </a:outerShdw>
          </a:effectLst>
        </p:spPr>
      </p:sp>
      <p:sp>
        <p:nvSpPr>
          <p:cNvPr id="22" name="Objective number 2"/>
          <p:cNvSpPr/>
          <p:nvPr/>
        </p:nvSpPr>
        <p:spPr>
          <a:xfrm>
            <a:off x="4023360" y="3611880"/>
            <a:ext cx="365760" cy="365760"/>
          </a:xfrm>
          <a:prstGeom prst="roundRect">
            <a:avLst>
              <a:gd name="adj" fmla="val 25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3" name="Text 19"/>
          <p:cNvSpPr txBox="1"/>
          <p:nvPr/>
        </p:nvSpPr>
        <p:spPr>
          <a:xfrm>
            <a:off x="4023360" y="36118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2</a:t>
            </a:r>
            <a:endParaRPr lang="en-US" sz="1400" dirty="0"/>
          </a:p>
        </p:txBody>
      </p:sp>
      <p:sp>
        <p:nvSpPr>
          <p:cNvPr id="24" name="Text 20"/>
          <p:cNvSpPr txBox="1"/>
          <p:nvPr/>
        </p:nvSpPr>
        <p:spPr>
          <a:xfrm>
            <a:off x="4526280" y="3538728"/>
            <a:ext cx="4069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Support online OSV.dev lookups and offline bundled/cached data.</a:t>
            </a:r>
            <a:endParaRPr lang="en-US" sz="1300" dirty="0"/>
          </a:p>
        </p:txBody>
      </p:sp>
      <p:sp>
        <p:nvSpPr>
          <p:cNvPr id="25" name="Objective row 3"/>
          <p:cNvSpPr/>
          <p:nvPr/>
        </p:nvSpPr>
        <p:spPr>
          <a:xfrm>
            <a:off x="3931920" y="4105656"/>
            <a:ext cx="4754880" cy="502920"/>
          </a:xfrm>
          <a:prstGeom prst="roundRect">
            <a:avLst>
              <a:gd name="adj" fmla="val 18182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27000" dist="25400" dir="5400000">
              <a:srgbClr val="0A1F44">
                <a:alpha val="12000"/>
              </a:srgbClr>
            </a:outerShdw>
          </a:effectLst>
        </p:spPr>
      </p:sp>
      <p:sp>
        <p:nvSpPr>
          <p:cNvPr id="26" name="Objective number 3"/>
          <p:cNvSpPr/>
          <p:nvPr/>
        </p:nvSpPr>
        <p:spPr>
          <a:xfrm>
            <a:off x="4023360" y="4178808"/>
            <a:ext cx="365760" cy="365760"/>
          </a:xfrm>
          <a:prstGeom prst="roundRect">
            <a:avLst>
              <a:gd name="adj" fmla="val 25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7" name="Text 23"/>
          <p:cNvSpPr txBox="1"/>
          <p:nvPr/>
        </p:nvSpPr>
        <p:spPr>
          <a:xfrm>
            <a:off x="4023360" y="417880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3</a:t>
            </a:r>
            <a:endParaRPr lang="en-US" sz="1400" dirty="0"/>
          </a:p>
        </p:txBody>
      </p:sp>
      <p:sp>
        <p:nvSpPr>
          <p:cNvPr id="28" name="Text 24"/>
          <p:cNvSpPr txBox="1"/>
          <p:nvPr/>
        </p:nvSpPr>
        <p:spPr>
          <a:xfrm>
            <a:off x="4526280" y="4105656"/>
            <a:ext cx="4069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Keep scan history so two reports can be compared.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2"/>
                </a:solidFill>
              </a:defRPr>
            </a:lvl1pPr>
          </a:lstStyle>
          <a:p>
            <a:pPr algn="r"/>
            <a:fld id="{F7021451-1387-4CA6-816F-3879F97B5CBC}" type="slidenum">
              <a:rPr b="1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1188720" y="310896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chemeClr val="accent2"/>
                </a:solidFill>
              </a:rPr>
              <a:t>PROCESS</a:t>
            </a:r>
            <a:endParaRPr lang="en-US" sz="11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1188720" y="530352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System Workflow</a:t>
            </a:r>
            <a:endParaRPr lang="en-US" sz="2800" dirty="0"/>
          </a:p>
        </p:txBody>
      </p:sp>
      <p:sp>
        <p:nvSpPr>
          <p:cNvPr id="4" name="Section badge"/>
          <p:cNvSpPr/>
          <p:nvPr/>
        </p:nvSpPr>
        <p:spPr>
          <a:xfrm>
            <a:off x="457200" y="329184"/>
            <a:ext cx="566928" cy="566928"/>
          </a:xfrm>
          <a:prstGeom prst="roundRect">
            <a:avLst>
              <a:gd name="adj" fmla="val 16129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329184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03</a:t>
            </a:r>
            <a:endParaRPr lang="en-US" sz="1800" dirty="0"/>
          </a:p>
        </p:txBody>
      </p:sp>
      <p:sp>
        <p:nvSpPr>
          <p:cNvPr id="6" name="Step card 1"/>
          <p:cNvSpPr/>
          <p:nvPr/>
        </p:nvSpPr>
        <p:spPr>
          <a:xfrm>
            <a:off x="457200" y="1280160"/>
            <a:ext cx="1261872" cy="2103120"/>
          </a:xfrm>
          <a:prstGeom prst="roundRect">
            <a:avLst>
              <a:gd name="adj" fmla="val 7246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27000" dist="25400" dir="5400000">
              <a:srgbClr val="0A1F44">
                <a:alpha val="12000"/>
              </a:srgbClr>
            </a:outerShdw>
          </a:effectLst>
        </p:spPr>
      </p:sp>
      <p:sp>
        <p:nvSpPr>
          <p:cNvPr id="7" name="Step icon INPUT box"/>
          <p:cNvSpPr/>
          <p:nvPr/>
        </p:nvSpPr>
        <p:spPr>
          <a:xfrm>
            <a:off x="813816" y="1417320"/>
            <a:ext cx="548640" cy="548640"/>
          </a:xfrm>
          <a:prstGeom prst="roundRect">
            <a:avLst>
              <a:gd name="adj" fmla="val 16667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8" name="Step icon INPUT" descr="Step icon INPU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0976" y="1554480"/>
            <a:ext cx="274320" cy="274320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530352" y="2084832"/>
            <a:ext cx="11155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accent2"/>
                </a:solidFill>
              </a:rPr>
              <a:t>1. INPUT</a:t>
            </a:r>
            <a:endParaRPr 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548640" y="2377440"/>
            <a:ext cx="107899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Upload dependency file for your language</a:t>
            </a:r>
            <a:endParaRPr lang="en-US" sz="1200" dirty="0"/>
          </a:p>
        </p:txBody>
      </p:sp>
      <p:pic>
        <p:nvPicPr>
          <p:cNvPr id="11" name="Step arrow 1" descr="Next step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19072" y="2148840"/>
            <a:ext cx="128016" cy="128016"/>
          </a:xfrm>
          <a:prstGeom prst="rect">
            <a:avLst/>
          </a:prstGeom>
        </p:spPr>
      </p:pic>
      <p:sp>
        <p:nvSpPr>
          <p:cNvPr id="12" name="Step card 2"/>
          <p:cNvSpPr/>
          <p:nvPr/>
        </p:nvSpPr>
        <p:spPr>
          <a:xfrm>
            <a:off x="1847088" y="1280160"/>
            <a:ext cx="1261872" cy="2103120"/>
          </a:xfrm>
          <a:prstGeom prst="roundRect">
            <a:avLst>
              <a:gd name="adj" fmla="val 7246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27000" dist="25400" dir="5400000">
              <a:srgbClr val="0A1F44">
                <a:alpha val="12000"/>
              </a:srgbClr>
            </a:outerShdw>
          </a:effectLst>
        </p:spPr>
      </p:sp>
      <p:sp>
        <p:nvSpPr>
          <p:cNvPr id="13" name="Step icon VALIDATE box"/>
          <p:cNvSpPr/>
          <p:nvPr/>
        </p:nvSpPr>
        <p:spPr>
          <a:xfrm>
            <a:off x="2203704" y="1417320"/>
            <a:ext cx="548640" cy="548640"/>
          </a:xfrm>
          <a:prstGeom prst="roundRect">
            <a:avLst>
              <a:gd name="adj" fmla="val 16667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4" name="Step icon VALIDATE" descr="Step icon VALIDAT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40864" y="1554480"/>
            <a:ext cx="274320" cy="274320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1920240" y="2084832"/>
            <a:ext cx="11155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accent2"/>
                </a:solidFill>
              </a:rPr>
              <a:t>2. VALIDATE</a:t>
            </a:r>
            <a:endParaRPr lang="en-US" sz="1200" dirty="0"/>
          </a:p>
        </p:txBody>
      </p:sp>
      <p:sp>
        <p:nvSpPr>
          <p:cNvPr id="16" name="Text 11"/>
          <p:cNvSpPr txBox="1"/>
          <p:nvPr/>
        </p:nvSpPr>
        <p:spPr>
          <a:xfrm>
            <a:off x="1938528" y="2377440"/>
            <a:ext cx="107899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Check file type, size, and text</a:t>
            </a:r>
            <a:endParaRPr lang="en-US" sz="1200" dirty="0"/>
          </a:p>
        </p:txBody>
      </p:sp>
      <p:pic>
        <p:nvPicPr>
          <p:cNvPr id="17" name="Step arrow 2" descr="Next step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08960" y="2148840"/>
            <a:ext cx="128016" cy="128016"/>
          </a:xfrm>
          <a:prstGeom prst="rect">
            <a:avLst/>
          </a:prstGeom>
        </p:spPr>
      </p:pic>
      <p:sp>
        <p:nvSpPr>
          <p:cNvPr id="18" name="Step card 3"/>
          <p:cNvSpPr/>
          <p:nvPr/>
        </p:nvSpPr>
        <p:spPr>
          <a:xfrm>
            <a:off x="3236976" y="1280160"/>
            <a:ext cx="1261872" cy="2103120"/>
          </a:xfrm>
          <a:prstGeom prst="roundRect">
            <a:avLst>
              <a:gd name="adj" fmla="val 7246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27000" dist="25400" dir="5400000">
              <a:srgbClr val="0A1F44">
                <a:alpha val="12000"/>
              </a:srgbClr>
            </a:outerShdw>
          </a:effectLst>
        </p:spPr>
      </p:sp>
      <p:sp>
        <p:nvSpPr>
          <p:cNvPr id="19" name="Step icon PARSE box"/>
          <p:cNvSpPr/>
          <p:nvPr/>
        </p:nvSpPr>
        <p:spPr>
          <a:xfrm>
            <a:off x="3593592" y="1417320"/>
            <a:ext cx="548640" cy="548640"/>
          </a:xfrm>
          <a:prstGeom prst="roundRect">
            <a:avLst>
              <a:gd name="adj" fmla="val 16667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20" name="Step icon PARSE" descr="Step icon PARSE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30752" y="1554480"/>
            <a:ext cx="274320" cy="274320"/>
          </a:xfrm>
          <a:prstGeom prst="rect">
            <a:avLst/>
          </a:prstGeom>
        </p:spPr>
      </p:pic>
      <p:sp>
        <p:nvSpPr>
          <p:cNvPr id="21" name="Text 14"/>
          <p:cNvSpPr txBox="1"/>
          <p:nvPr/>
        </p:nvSpPr>
        <p:spPr>
          <a:xfrm>
            <a:off x="3310128" y="2084832"/>
            <a:ext cx="11155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accent2"/>
                </a:solidFill>
              </a:rPr>
              <a:t>3. PARSE</a:t>
            </a:r>
            <a:endParaRPr lang="en-US" sz="1200" dirty="0"/>
          </a:p>
        </p:txBody>
      </p:sp>
      <p:sp>
        <p:nvSpPr>
          <p:cNvPr id="22" name="Text 15"/>
          <p:cNvSpPr txBox="1"/>
          <p:nvPr/>
        </p:nvSpPr>
        <p:spPr>
          <a:xfrm>
            <a:off x="3328416" y="2377440"/>
            <a:ext cx="107899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Extract package names and versions</a:t>
            </a:r>
            <a:endParaRPr lang="en-US" sz="1200" dirty="0"/>
          </a:p>
        </p:txBody>
      </p:sp>
      <p:pic>
        <p:nvPicPr>
          <p:cNvPr id="23" name="Step arrow 3" descr="Next step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98848" y="2148840"/>
            <a:ext cx="128016" cy="128016"/>
          </a:xfrm>
          <a:prstGeom prst="rect">
            <a:avLst/>
          </a:prstGeom>
        </p:spPr>
      </p:pic>
      <p:sp>
        <p:nvSpPr>
          <p:cNvPr id="24" name="Step card 4"/>
          <p:cNvSpPr/>
          <p:nvPr/>
        </p:nvSpPr>
        <p:spPr>
          <a:xfrm>
            <a:off x="4626864" y="1280160"/>
            <a:ext cx="1261872" cy="2103120"/>
          </a:xfrm>
          <a:prstGeom prst="roundRect">
            <a:avLst>
              <a:gd name="adj" fmla="val 7246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27000" dist="25400" dir="5400000">
              <a:srgbClr val="0A1F44">
                <a:alpha val="12000"/>
              </a:srgbClr>
            </a:outerShdw>
          </a:effectLst>
        </p:spPr>
      </p:sp>
      <p:sp>
        <p:nvSpPr>
          <p:cNvPr id="25" name="Step icon LOOKUP box"/>
          <p:cNvSpPr/>
          <p:nvPr/>
        </p:nvSpPr>
        <p:spPr>
          <a:xfrm>
            <a:off x="4983480" y="1417320"/>
            <a:ext cx="548640" cy="548640"/>
          </a:xfrm>
          <a:prstGeom prst="roundRect">
            <a:avLst>
              <a:gd name="adj" fmla="val 16667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26" name="Step icon LOOKUP" descr="Step icon LOOKUP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120640" y="1554480"/>
            <a:ext cx="274320" cy="274320"/>
          </a:xfrm>
          <a:prstGeom prst="rect">
            <a:avLst/>
          </a:prstGeom>
        </p:spPr>
      </p:pic>
      <p:sp>
        <p:nvSpPr>
          <p:cNvPr id="27" name="Text 18"/>
          <p:cNvSpPr txBox="1"/>
          <p:nvPr/>
        </p:nvSpPr>
        <p:spPr>
          <a:xfrm>
            <a:off x="4700016" y="2084832"/>
            <a:ext cx="11155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accent2"/>
                </a:solidFill>
              </a:rPr>
              <a:t>4. LOOKUP</a:t>
            </a:r>
            <a:endParaRPr lang="en-US" sz="1200" dirty="0"/>
          </a:p>
        </p:txBody>
      </p:sp>
      <p:sp>
        <p:nvSpPr>
          <p:cNvPr id="28" name="Text 19"/>
          <p:cNvSpPr txBox="1"/>
          <p:nvPr/>
        </p:nvSpPr>
        <p:spPr>
          <a:xfrm>
            <a:off x="4718304" y="2377440"/>
            <a:ext cx="107899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Query OSV.dev or offline cache</a:t>
            </a:r>
            <a:endParaRPr lang="en-US" sz="1200" dirty="0"/>
          </a:p>
        </p:txBody>
      </p:sp>
      <p:pic>
        <p:nvPicPr>
          <p:cNvPr id="29" name="Step arrow 4" descr="Next step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888736" y="2148840"/>
            <a:ext cx="128016" cy="128016"/>
          </a:xfrm>
          <a:prstGeom prst="rect">
            <a:avLst/>
          </a:prstGeom>
        </p:spPr>
      </p:pic>
      <p:sp>
        <p:nvSpPr>
          <p:cNvPr id="30" name="Step card 5"/>
          <p:cNvSpPr/>
          <p:nvPr/>
        </p:nvSpPr>
        <p:spPr>
          <a:xfrm>
            <a:off x="6016752" y="1280160"/>
            <a:ext cx="1261872" cy="2103120"/>
          </a:xfrm>
          <a:prstGeom prst="roundRect">
            <a:avLst>
              <a:gd name="adj" fmla="val 7246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27000" dist="25400" dir="5400000">
              <a:srgbClr val="0A1F44">
                <a:alpha val="12000"/>
              </a:srgbClr>
            </a:outerShdw>
          </a:effectLst>
        </p:spPr>
      </p:sp>
      <p:sp>
        <p:nvSpPr>
          <p:cNvPr id="31" name="Step icon MATCH box"/>
          <p:cNvSpPr/>
          <p:nvPr/>
        </p:nvSpPr>
        <p:spPr>
          <a:xfrm>
            <a:off x="6373368" y="1417320"/>
            <a:ext cx="548640" cy="548640"/>
          </a:xfrm>
          <a:prstGeom prst="roundRect">
            <a:avLst>
              <a:gd name="adj" fmla="val 16667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32" name="Step icon MATCH" descr="Step icon MATCH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510528" y="1554480"/>
            <a:ext cx="274320" cy="274320"/>
          </a:xfrm>
          <a:prstGeom prst="rect">
            <a:avLst/>
          </a:prstGeom>
        </p:spPr>
      </p:pic>
      <p:sp>
        <p:nvSpPr>
          <p:cNvPr id="33" name="Text 22"/>
          <p:cNvSpPr txBox="1"/>
          <p:nvPr/>
        </p:nvSpPr>
        <p:spPr>
          <a:xfrm>
            <a:off x="6089904" y="2084832"/>
            <a:ext cx="11155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accent2"/>
                </a:solidFill>
              </a:rPr>
              <a:t>5. MATCH</a:t>
            </a:r>
            <a:endParaRPr lang="en-US" sz="1200" dirty="0"/>
          </a:p>
        </p:txBody>
      </p:sp>
      <p:sp>
        <p:nvSpPr>
          <p:cNvPr id="34" name="Text 23"/>
          <p:cNvSpPr txBox="1"/>
          <p:nvPr/>
        </p:nvSpPr>
        <p:spPr>
          <a:xfrm>
            <a:off x="6108192" y="2377440"/>
            <a:ext cx="107899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Compare versions with advisories</a:t>
            </a:r>
            <a:endParaRPr lang="en-US" sz="1200" dirty="0"/>
          </a:p>
        </p:txBody>
      </p:sp>
      <p:pic>
        <p:nvPicPr>
          <p:cNvPr id="35" name="Step arrow 5" descr="Next step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278624" y="2148840"/>
            <a:ext cx="128016" cy="128016"/>
          </a:xfrm>
          <a:prstGeom prst="rect">
            <a:avLst/>
          </a:prstGeom>
        </p:spPr>
      </p:pic>
      <p:sp>
        <p:nvSpPr>
          <p:cNvPr id="36" name="Step card 6"/>
          <p:cNvSpPr/>
          <p:nvPr/>
        </p:nvSpPr>
        <p:spPr>
          <a:xfrm>
            <a:off x="7406640" y="1280160"/>
            <a:ext cx="1261872" cy="2103120"/>
          </a:xfrm>
          <a:prstGeom prst="roundRect">
            <a:avLst>
              <a:gd name="adj" fmla="val 7246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27000" dist="25400" dir="5400000">
              <a:srgbClr val="0A1F44">
                <a:alpha val="12000"/>
              </a:srgbClr>
            </a:outerShdw>
          </a:effectLst>
        </p:spPr>
      </p:sp>
      <p:sp>
        <p:nvSpPr>
          <p:cNvPr id="37" name="Step icon REPORT box"/>
          <p:cNvSpPr/>
          <p:nvPr/>
        </p:nvSpPr>
        <p:spPr>
          <a:xfrm>
            <a:off x="7763256" y="1417320"/>
            <a:ext cx="548640" cy="548640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38" name="Step icon REPORT" descr="Step icon REPORT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900416" y="1554480"/>
            <a:ext cx="274320" cy="274320"/>
          </a:xfrm>
          <a:prstGeom prst="rect">
            <a:avLst/>
          </a:prstGeom>
        </p:spPr>
      </p:pic>
      <p:sp>
        <p:nvSpPr>
          <p:cNvPr id="39" name="Text 26"/>
          <p:cNvSpPr txBox="1"/>
          <p:nvPr/>
        </p:nvSpPr>
        <p:spPr>
          <a:xfrm>
            <a:off x="7479792" y="2084832"/>
            <a:ext cx="11155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accent2"/>
                </a:solidFill>
              </a:rPr>
              <a:t>6. REPORT</a:t>
            </a:r>
            <a:endParaRPr lang="en-US" sz="1200" dirty="0"/>
          </a:p>
        </p:txBody>
      </p:sp>
      <p:sp>
        <p:nvSpPr>
          <p:cNvPr id="40" name="Text 27"/>
          <p:cNvSpPr txBox="1"/>
          <p:nvPr/>
        </p:nvSpPr>
        <p:spPr>
          <a:xfrm>
            <a:off x="7498080" y="2377440"/>
            <a:ext cx="107899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Show findings, export, save history</a:t>
            </a:r>
            <a:endParaRPr lang="en-US" sz="1200" dirty="0"/>
          </a:p>
        </p:txBody>
      </p:sp>
      <p:sp>
        <p:nvSpPr>
          <p:cNvPr id="41" name="Text 28"/>
          <p:cNvSpPr txBox="1"/>
          <p:nvPr/>
        </p:nvSpPr>
        <p:spPr>
          <a:xfrm>
            <a:off x="457200" y="35204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The pipeline keeps parsing, advisory lookup, matching, remediation, reporting, and interface logic in separate modules.</a:t>
            </a:r>
            <a:endParaRPr lang="en-US" sz="1400" dirty="0"/>
          </a:p>
        </p:txBody>
      </p:sp>
      <p:sp>
        <p:nvSpPr>
          <p:cNvPr id="42" name="Design principle banner"/>
          <p:cNvSpPr/>
          <p:nvPr/>
        </p:nvSpPr>
        <p:spPr>
          <a:xfrm>
            <a:off x="457200" y="4023360"/>
            <a:ext cx="8229600" cy="594360"/>
          </a:xfrm>
          <a:prstGeom prst="roundRect">
            <a:avLst>
              <a:gd name="adj" fmla="val 15385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43" name="Principle icon box"/>
          <p:cNvSpPr/>
          <p:nvPr/>
        </p:nvSpPr>
        <p:spPr>
          <a:xfrm>
            <a:off x="594360" y="4114800"/>
            <a:ext cx="411480" cy="411480"/>
          </a:xfrm>
          <a:prstGeom prst="roundRect">
            <a:avLst>
              <a:gd name="adj" fmla="val 22222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44" name="Principle icon" descr="Principle icon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97230" y="4217670"/>
            <a:ext cx="205740" cy="205740"/>
          </a:xfrm>
          <a:prstGeom prst="rect">
            <a:avLst/>
          </a:prstGeom>
        </p:spPr>
      </p:pic>
      <p:sp>
        <p:nvSpPr>
          <p:cNvPr id="45" name="Text 31"/>
          <p:cNvSpPr txBox="1"/>
          <p:nvPr/>
        </p:nvSpPr>
        <p:spPr>
          <a:xfrm>
            <a:off x="1188720" y="4023360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DESIGN PRINCIPLE</a:t>
            </a:r>
            <a:endParaRPr lang="en-US" sz="1200" dirty="0"/>
          </a:p>
        </p:txBody>
      </p:sp>
      <p:sp>
        <p:nvSpPr>
          <p:cNvPr id="46" name="Text 32"/>
          <p:cNvSpPr txBox="1"/>
          <p:nvPr/>
        </p:nvSpPr>
        <p:spPr>
          <a:xfrm>
            <a:off x="3017520" y="4023360"/>
            <a:ext cx="5486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Never treat “no matching record” as proof that a package is safe.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2"/>
                </a:solidFill>
              </a:defRPr>
            </a:lvl1pPr>
          </a:lstStyle>
          <a:p>
            <a:pPr algn="r"/>
            <a:fld id="{F7021451-1387-4CA6-816F-3879F97B5CBC}" type="slidenum">
              <a:rPr b="1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1188720" y="310896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chemeClr val="accent2"/>
                </a:solidFill>
              </a:rPr>
              <a:t>INPUT</a:t>
            </a:r>
            <a:endParaRPr lang="en-US" sz="11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1188720" y="530352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Multi-Language Dependency Files</a:t>
            </a:r>
            <a:endParaRPr lang="en-US" sz="2800" dirty="0"/>
          </a:p>
        </p:txBody>
      </p:sp>
      <p:sp>
        <p:nvSpPr>
          <p:cNvPr id="4" name="Section badge"/>
          <p:cNvSpPr/>
          <p:nvPr/>
        </p:nvSpPr>
        <p:spPr>
          <a:xfrm>
            <a:off x="457200" y="329184"/>
            <a:ext cx="566928" cy="566928"/>
          </a:xfrm>
          <a:prstGeom prst="roundRect">
            <a:avLst>
              <a:gd name="adj" fmla="val 16129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329184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04</a:t>
            </a:r>
            <a:endParaRPr lang="en-US" sz="1800" dirty="0"/>
          </a:p>
        </p:txBody>
      </p:sp>
      <p:sp>
        <p:nvSpPr>
          <p:cNvPr id="6" name="Input format card"/>
          <p:cNvSpPr/>
          <p:nvPr/>
        </p:nvSpPr>
        <p:spPr>
          <a:xfrm>
            <a:off x="457200" y="1280160"/>
            <a:ext cx="4023360" cy="2926080"/>
          </a:xfrm>
          <a:prstGeom prst="roundRect">
            <a:avLst>
              <a:gd name="adj" fmla="val 3125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27000" dist="25400" dir="5400000">
              <a:srgbClr val="0A1F44">
                <a:alpha val="12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685800" y="141732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2"/>
                </a:solidFill>
              </a:rPr>
              <a:t>Input format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1828800"/>
            <a:ext cx="356616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Accepts dependency files from supported language ecosystems.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Examples: requirements.txt, package.json, pom.xml, go.mod, Gemfile, composer.json.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Validates uploaded files before scanning.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File size limits depend on the uploaded format.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4754880" y="128016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Examples of supported dependency files</a:t>
            </a:r>
            <a:endParaRPr lang="en-US" sz="1400" dirty="0"/>
          </a:p>
        </p:txBody>
      </p:sp>
      <p:sp>
        <p:nvSpPr>
          <p:cNvPr id="10" name="File tile requirements.txt"/>
          <p:cNvSpPr/>
          <p:nvPr/>
        </p:nvSpPr>
        <p:spPr>
          <a:xfrm>
            <a:off x="4754880" y="1645920"/>
            <a:ext cx="1920240" cy="749808"/>
          </a:xfrm>
          <a:prstGeom prst="roundRect">
            <a:avLst>
              <a:gd name="adj" fmla="val 12195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27000" dist="25400" dir="5400000">
              <a:srgbClr val="0A1F44">
                <a:alpha val="12000"/>
              </a:srgbClr>
            </a:outerShdw>
          </a:effectLst>
        </p:spPr>
      </p:sp>
      <p:sp>
        <p:nvSpPr>
          <p:cNvPr id="11" name="File icon 1 box"/>
          <p:cNvSpPr/>
          <p:nvPr/>
        </p:nvSpPr>
        <p:spPr>
          <a:xfrm>
            <a:off x="4864608" y="1819656"/>
            <a:ext cx="402336" cy="402336"/>
          </a:xfrm>
          <a:prstGeom prst="roundRect">
            <a:avLst>
              <a:gd name="adj" fmla="val 22727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2" name="File icon 1" descr="File icon 1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5192" y="1920240"/>
            <a:ext cx="201168" cy="201168"/>
          </a:xfrm>
          <a:prstGeom prst="rect">
            <a:avLst/>
          </a:prstGeom>
        </p:spPr>
      </p:pic>
      <p:sp>
        <p:nvSpPr>
          <p:cNvPr id="13" name="Text 10"/>
          <p:cNvSpPr txBox="1"/>
          <p:nvPr/>
        </p:nvSpPr>
        <p:spPr>
          <a:xfrm>
            <a:off x="5303520" y="1645920"/>
            <a:ext cx="1371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requirements.txt</a:t>
            </a:r>
            <a:endParaRPr lang="en-US" sz="1050" dirty="0"/>
          </a:p>
        </p:txBody>
      </p:sp>
      <p:sp>
        <p:nvSpPr>
          <p:cNvPr id="14" name="File tile package.json"/>
          <p:cNvSpPr/>
          <p:nvPr/>
        </p:nvSpPr>
        <p:spPr>
          <a:xfrm>
            <a:off x="6766560" y="1645920"/>
            <a:ext cx="1920240" cy="749808"/>
          </a:xfrm>
          <a:prstGeom prst="roundRect">
            <a:avLst>
              <a:gd name="adj" fmla="val 12195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27000" dist="25400" dir="5400000">
              <a:srgbClr val="0A1F44">
                <a:alpha val="12000"/>
              </a:srgbClr>
            </a:outerShdw>
          </a:effectLst>
        </p:spPr>
      </p:sp>
      <p:sp>
        <p:nvSpPr>
          <p:cNvPr id="15" name="File icon 2 box"/>
          <p:cNvSpPr/>
          <p:nvPr/>
        </p:nvSpPr>
        <p:spPr>
          <a:xfrm>
            <a:off x="6876288" y="1819656"/>
            <a:ext cx="402336" cy="402336"/>
          </a:xfrm>
          <a:prstGeom prst="roundRect">
            <a:avLst>
              <a:gd name="adj" fmla="val 22727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6" name="File icon 2" descr="File icon 2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76872" y="1920240"/>
            <a:ext cx="201168" cy="201168"/>
          </a:xfrm>
          <a:prstGeom prst="rect">
            <a:avLst/>
          </a:prstGeom>
        </p:spPr>
      </p:pic>
      <p:sp>
        <p:nvSpPr>
          <p:cNvPr id="17" name="Text 13"/>
          <p:cNvSpPr txBox="1"/>
          <p:nvPr/>
        </p:nvSpPr>
        <p:spPr>
          <a:xfrm>
            <a:off x="7315200" y="1645920"/>
            <a:ext cx="1371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package.json</a:t>
            </a:r>
            <a:endParaRPr lang="en-US" sz="1050" dirty="0"/>
          </a:p>
        </p:txBody>
      </p:sp>
      <p:sp>
        <p:nvSpPr>
          <p:cNvPr id="18" name="File tile pom.xml"/>
          <p:cNvSpPr/>
          <p:nvPr/>
        </p:nvSpPr>
        <p:spPr>
          <a:xfrm>
            <a:off x="4754880" y="2514600"/>
            <a:ext cx="1920240" cy="749808"/>
          </a:xfrm>
          <a:prstGeom prst="roundRect">
            <a:avLst>
              <a:gd name="adj" fmla="val 12195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27000" dist="25400" dir="5400000">
              <a:srgbClr val="0A1F44">
                <a:alpha val="12000"/>
              </a:srgbClr>
            </a:outerShdw>
          </a:effectLst>
        </p:spPr>
      </p:sp>
      <p:sp>
        <p:nvSpPr>
          <p:cNvPr id="19" name="File icon 3 box"/>
          <p:cNvSpPr/>
          <p:nvPr/>
        </p:nvSpPr>
        <p:spPr>
          <a:xfrm>
            <a:off x="4864608" y="2688336"/>
            <a:ext cx="402336" cy="402336"/>
          </a:xfrm>
          <a:prstGeom prst="roundRect">
            <a:avLst>
              <a:gd name="adj" fmla="val 22727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20" name="File icon 3" descr="File icon 3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5192" y="2788920"/>
            <a:ext cx="201168" cy="201168"/>
          </a:xfrm>
          <a:prstGeom prst="rect">
            <a:avLst/>
          </a:prstGeom>
        </p:spPr>
      </p:pic>
      <p:sp>
        <p:nvSpPr>
          <p:cNvPr id="21" name="Text 16"/>
          <p:cNvSpPr txBox="1"/>
          <p:nvPr/>
        </p:nvSpPr>
        <p:spPr>
          <a:xfrm>
            <a:off x="5303520" y="2514600"/>
            <a:ext cx="1371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pom.xml</a:t>
            </a:r>
            <a:endParaRPr lang="en-US" sz="1050" dirty="0"/>
          </a:p>
        </p:txBody>
      </p:sp>
      <p:sp>
        <p:nvSpPr>
          <p:cNvPr id="22" name="File tile go.mod"/>
          <p:cNvSpPr/>
          <p:nvPr/>
        </p:nvSpPr>
        <p:spPr>
          <a:xfrm>
            <a:off x="6766560" y="2514600"/>
            <a:ext cx="1920240" cy="749808"/>
          </a:xfrm>
          <a:prstGeom prst="roundRect">
            <a:avLst>
              <a:gd name="adj" fmla="val 12195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27000" dist="25400" dir="5400000">
              <a:srgbClr val="0A1F44">
                <a:alpha val="12000"/>
              </a:srgbClr>
            </a:outerShdw>
          </a:effectLst>
        </p:spPr>
      </p:sp>
      <p:sp>
        <p:nvSpPr>
          <p:cNvPr id="23" name="File icon 4 box"/>
          <p:cNvSpPr/>
          <p:nvPr/>
        </p:nvSpPr>
        <p:spPr>
          <a:xfrm>
            <a:off x="6876288" y="2688336"/>
            <a:ext cx="402336" cy="402336"/>
          </a:xfrm>
          <a:prstGeom prst="roundRect">
            <a:avLst>
              <a:gd name="adj" fmla="val 22727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24" name="File icon 4" descr="File icon 4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76872" y="2788920"/>
            <a:ext cx="201168" cy="201168"/>
          </a:xfrm>
          <a:prstGeom prst="rect">
            <a:avLst/>
          </a:prstGeom>
        </p:spPr>
      </p:pic>
      <p:sp>
        <p:nvSpPr>
          <p:cNvPr id="25" name="Text 19"/>
          <p:cNvSpPr txBox="1"/>
          <p:nvPr/>
        </p:nvSpPr>
        <p:spPr>
          <a:xfrm>
            <a:off x="7315200" y="2514600"/>
            <a:ext cx="1371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go.mod</a:t>
            </a:r>
            <a:endParaRPr lang="en-US" sz="1050" dirty="0"/>
          </a:p>
        </p:txBody>
      </p:sp>
      <p:sp>
        <p:nvSpPr>
          <p:cNvPr id="26" name="File tile Gemfile"/>
          <p:cNvSpPr/>
          <p:nvPr/>
        </p:nvSpPr>
        <p:spPr>
          <a:xfrm>
            <a:off x="4754880" y="3383280"/>
            <a:ext cx="1920240" cy="749808"/>
          </a:xfrm>
          <a:prstGeom prst="roundRect">
            <a:avLst>
              <a:gd name="adj" fmla="val 12195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27000" dist="25400" dir="5400000">
              <a:srgbClr val="0A1F44">
                <a:alpha val="12000"/>
              </a:srgbClr>
            </a:outerShdw>
          </a:effectLst>
        </p:spPr>
      </p:sp>
      <p:sp>
        <p:nvSpPr>
          <p:cNvPr id="27" name="File icon 5 box"/>
          <p:cNvSpPr/>
          <p:nvPr/>
        </p:nvSpPr>
        <p:spPr>
          <a:xfrm>
            <a:off x="4864608" y="3557016"/>
            <a:ext cx="402336" cy="402336"/>
          </a:xfrm>
          <a:prstGeom prst="roundRect">
            <a:avLst>
              <a:gd name="adj" fmla="val 22727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28" name="File icon 5" descr="File icon 5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65192" y="3657600"/>
            <a:ext cx="201168" cy="201168"/>
          </a:xfrm>
          <a:prstGeom prst="rect">
            <a:avLst/>
          </a:prstGeom>
        </p:spPr>
      </p:pic>
      <p:sp>
        <p:nvSpPr>
          <p:cNvPr id="29" name="Text 22"/>
          <p:cNvSpPr txBox="1"/>
          <p:nvPr/>
        </p:nvSpPr>
        <p:spPr>
          <a:xfrm>
            <a:off x="5303520" y="3383280"/>
            <a:ext cx="1371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Gemfile</a:t>
            </a:r>
            <a:endParaRPr lang="en-US" sz="1050" dirty="0"/>
          </a:p>
        </p:txBody>
      </p:sp>
      <p:sp>
        <p:nvSpPr>
          <p:cNvPr id="30" name="File tile composer.json"/>
          <p:cNvSpPr/>
          <p:nvPr/>
        </p:nvSpPr>
        <p:spPr>
          <a:xfrm>
            <a:off x="6766560" y="3383280"/>
            <a:ext cx="1920240" cy="749808"/>
          </a:xfrm>
          <a:prstGeom prst="roundRect">
            <a:avLst>
              <a:gd name="adj" fmla="val 12195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27000" dist="25400" dir="5400000">
              <a:srgbClr val="0A1F44">
                <a:alpha val="12000"/>
              </a:srgbClr>
            </a:outerShdw>
          </a:effectLst>
        </p:spPr>
      </p:sp>
      <p:sp>
        <p:nvSpPr>
          <p:cNvPr id="31" name="File icon 6 box"/>
          <p:cNvSpPr/>
          <p:nvPr/>
        </p:nvSpPr>
        <p:spPr>
          <a:xfrm>
            <a:off x="6876288" y="3557016"/>
            <a:ext cx="402336" cy="402336"/>
          </a:xfrm>
          <a:prstGeom prst="roundRect">
            <a:avLst>
              <a:gd name="adj" fmla="val 22727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32" name="File icon 6" descr="File icon 6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76872" y="3657600"/>
            <a:ext cx="201168" cy="201168"/>
          </a:xfrm>
          <a:prstGeom prst="rect">
            <a:avLst/>
          </a:prstGeom>
        </p:spPr>
      </p:pic>
      <p:sp>
        <p:nvSpPr>
          <p:cNvPr id="33" name="Text 25"/>
          <p:cNvSpPr txBox="1"/>
          <p:nvPr/>
        </p:nvSpPr>
        <p:spPr>
          <a:xfrm>
            <a:off x="7315200" y="3383280"/>
            <a:ext cx="1371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composer.json</a:t>
            </a:r>
            <a:endParaRPr lang="en-US" sz="1050" dirty="0"/>
          </a:p>
        </p:txBody>
      </p:sp>
      <p:sp>
        <p:nvSpPr>
          <p:cNvPr id="34" name="Text 26"/>
          <p:cNvSpPr txBox="1"/>
          <p:nvPr/>
        </p:nvSpPr>
        <p:spPr>
          <a:xfrm>
            <a:off x="457200" y="43434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chemeClr val="accent6"/>
                </a:solidFill>
              </a:rPr>
              <a:t>Examples represent common dependency manifest formats; scan coverage depends on supported parsers and advisory data.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2"/>
                </a:solidFill>
              </a:defRPr>
            </a:lvl1pPr>
          </a:lstStyle>
          <a:p>
            <a:pPr algn="r"/>
            <a:fld id="{F7021451-1387-4CA6-816F-3879F97B5CBC}" type="slidenum">
              <a:rPr b="1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1188720" y="310896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chemeClr val="accent2"/>
                </a:solidFill>
              </a:rPr>
              <a:t>DESIGN</a:t>
            </a:r>
            <a:endParaRPr lang="en-US" sz="11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1188720" y="530352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System Architecture</a:t>
            </a:r>
            <a:endParaRPr lang="en-US" sz="2800" dirty="0"/>
          </a:p>
        </p:txBody>
      </p:sp>
      <p:sp>
        <p:nvSpPr>
          <p:cNvPr id="4" name="Section badge"/>
          <p:cNvSpPr/>
          <p:nvPr/>
        </p:nvSpPr>
        <p:spPr>
          <a:xfrm>
            <a:off x="457200" y="329184"/>
            <a:ext cx="566928" cy="566928"/>
          </a:xfrm>
          <a:prstGeom prst="roundRect">
            <a:avLst>
              <a:gd name="adj" fmla="val 16129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329184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05</a:t>
            </a:r>
            <a:endParaRPr lang="en-US" sz="1800" dirty="0"/>
          </a:p>
        </p:txBody>
      </p:sp>
      <p:sp>
        <p:nvSpPr>
          <p:cNvPr id="6" name="Module USER INTERFACE"/>
          <p:cNvSpPr/>
          <p:nvPr/>
        </p:nvSpPr>
        <p:spPr>
          <a:xfrm>
            <a:off x="457200" y="1280160"/>
            <a:ext cx="2468880" cy="1371600"/>
          </a:xfrm>
          <a:prstGeom prst="roundRect">
            <a:avLst>
              <a:gd name="adj" fmla="val 6667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27000" dist="25400" dir="5400000">
              <a:srgbClr val="0A1F44">
                <a:alpha val="12000"/>
              </a:srgbClr>
            </a:outerShdw>
          </a:effectLst>
        </p:spPr>
      </p:sp>
      <p:sp>
        <p:nvSpPr>
          <p:cNvPr id="7" name="USER INTERFACE icon box"/>
          <p:cNvSpPr/>
          <p:nvPr/>
        </p:nvSpPr>
        <p:spPr>
          <a:xfrm>
            <a:off x="621792" y="1417320"/>
            <a:ext cx="365760" cy="365760"/>
          </a:xfrm>
          <a:prstGeom prst="roundRect">
            <a:avLst>
              <a:gd name="adj" fmla="val 25000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8" name="USER INTERFACE icon" descr="USER INTERFACE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232" y="1508760"/>
            <a:ext cx="182880" cy="182880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097280" y="141732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2"/>
                </a:solidFill>
              </a:rPr>
              <a:t>USER INTERFACE</a:t>
            </a:r>
            <a:endParaRPr lang="en-US" sz="1100" dirty="0"/>
          </a:p>
        </p:txBody>
      </p:sp>
      <p:sp>
        <p:nvSpPr>
          <p:cNvPr id="10" name="Text 7"/>
          <p:cNvSpPr txBox="1"/>
          <p:nvPr/>
        </p:nvSpPr>
        <p:spPr>
          <a:xfrm>
            <a:off x="621792" y="1901952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app.py • Streamlit dashboard</a:t>
            </a:r>
            <a:endParaRPr lang="en-US" sz="1300" dirty="0"/>
          </a:p>
        </p:txBody>
      </p:sp>
      <p:sp>
        <p:nvSpPr>
          <p:cNvPr id="11" name="Module ADVISORY SERVICE"/>
          <p:cNvSpPr/>
          <p:nvPr/>
        </p:nvSpPr>
        <p:spPr>
          <a:xfrm>
            <a:off x="6217920" y="1280160"/>
            <a:ext cx="2468880" cy="1371600"/>
          </a:xfrm>
          <a:prstGeom prst="roundRect">
            <a:avLst>
              <a:gd name="adj" fmla="val 6667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27000" dist="25400" dir="5400000">
              <a:srgbClr val="0A1F44">
                <a:alpha val="12000"/>
              </a:srgbClr>
            </a:outerShdw>
          </a:effectLst>
        </p:spPr>
      </p:sp>
      <p:sp>
        <p:nvSpPr>
          <p:cNvPr id="12" name="ADVISORY SERVICE icon box"/>
          <p:cNvSpPr/>
          <p:nvPr/>
        </p:nvSpPr>
        <p:spPr>
          <a:xfrm>
            <a:off x="6382512" y="1417320"/>
            <a:ext cx="365760" cy="365760"/>
          </a:xfrm>
          <a:prstGeom prst="roundRect">
            <a:avLst>
              <a:gd name="adj" fmla="val 25000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3" name="ADVISORY SERVICE icon" descr="ADVISORY SERVICE ico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73952" y="1508760"/>
            <a:ext cx="182880" cy="182880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6858000" y="141732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2"/>
                </a:solidFill>
              </a:rPr>
              <a:t>ADVISORY SERVICE</a:t>
            </a:r>
            <a:endParaRPr lang="en-US" sz="1100" dirty="0"/>
          </a:p>
        </p:txBody>
      </p:sp>
      <p:sp>
        <p:nvSpPr>
          <p:cNvPr id="15" name="Text 11"/>
          <p:cNvSpPr txBox="1"/>
          <p:nvPr/>
        </p:nvSpPr>
        <p:spPr>
          <a:xfrm>
            <a:off x="6382512" y="1901952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OSV.dev API • bundled sample • cached records</a:t>
            </a:r>
            <a:endParaRPr lang="en-US" sz="1300" dirty="0"/>
          </a:p>
        </p:txBody>
      </p:sp>
      <p:sp>
        <p:nvSpPr>
          <p:cNvPr id="16" name="Module UI COMPONENTS"/>
          <p:cNvSpPr/>
          <p:nvPr/>
        </p:nvSpPr>
        <p:spPr>
          <a:xfrm>
            <a:off x="457200" y="2788920"/>
            <a:ext cx="2468880" cy="1371600"/>
          </a:xfrm>
          <a:prstGeom prst="roundRect">
            <a:avLst>
              <a:gd name="adj" fmla="val 6667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27000" dist="25400" dir="5400000">
              <a:srgbClr val="0A1F44">
                <a:alpha val="12000"/>
              </a:srgbClr>
            </a:outerShdw>
          </a:effectLst>
        </p:spPr>
      </p:sp>
      <p:sp>
        <p:nvSpPr>
          <p:cNvPr id="17" name="UI COMPONENTS icon box"/>
          <p:cNvSpPr/>
          <p:nvPr/>
        </p:nvSpPr>
        <p:spPr>
          <a:xfrm>
            <a:off x="621792" y="2926080"/>
            <a:ext cx="365760" cy="365760"/>
          </a:xfrm>
          <a:prstGeom prst="roundRect">
            <a:avLst>
              <a:gd name="adj" fmla="val 25000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8" name="UI COMPONENTS icon" descr="UI COMPONENTS icon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" y="3017520"/>
            <a:ext cx="182880" cy="182880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1097280" y="292608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2"/>
                </a:solidFill>
              </a:rPr>
              <a:t>UI COMPONENTS</a:t>
            </a:r>
            <a:endParaRPr lang="en-US" sz="1100" dirty="0"/>
          </a:p>
        </p:txBody>
      </p:sp>
      <p:sp>
        <p:nvSpPr>
          <p:cNvPr id="20" name="Text 15"/>
          <p:cNvSpPr txBox="1"/>
          <p:nvPr/>
        </p:nvSpPr>
        <p:spPr>
          <a:xfrm>
            <a:off x="621792" y="3410712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components/ui.py • reusable visual helpers</a:t>
            </a:r>
            <a:endParaRPr lang="en-US" sz="1300" dirty="0"/>
          </a:p>
        </p:txBody>
      </p:sp>
      <p:sp>
        <p:nvSpPr>
          <p:cNvPr id="21" name="Module UTILITIES"/>
          <p:cNvSpPr/>
          <p:nvPr/>
        </p:nvSpPr>
        <p:spPr>
          <a:xfrm>
            <a:off x="6217920" y="2788920"/>
            <a:ext cx="2468880" cy="1371600"/>
          </a:xfrm>
          <a:prstGeom prst="roundRect">
            <a:avLst>
              <a:gd name="adj" fmla="val 6667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27000" dist="25400" dir="5400000">
              <a:srgbClr val="0A1F44">
                <a:alpha val="12000"/>
              </a:srgbClr>
            </a:outerShdw>
          </a:effectLst>
        </p:spPr>
      </p:sp>
      <p:sp>
        <p:nvSpPr>
          <p:cNvPr id="22" name="UTILITIES icon box"/>
          <p:cNvSpPr/>
          <p:nvPr/>
        </p:nvSpPr>
        <p:spPr>
          <a:xfrm>
            <a:off x="6382512" y="2926080"/>
            <a:ext cx="365760" cy="365760"/>
          </a:xfrm>
          <a:prstGeom prst="roundRect">
            <a:avLst>
              <a:gd name="adj" fmla="val 25000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23" name="UTILITIES icon" descr="UTILITIES icon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73952" y="3017520"/>
            <a:ext cx="182880" cy="182880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6858000" y="292608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2"/>
                </a:solidFill>
              </a:rPr>
              <a:t>UTILITIES</a:t>
            </a:r>
            <a:endParaRPr lang="en-US" sz="1100" dirty="0"/>
          </a:p>
        </p:txBody>
      </p:sp>
      <p:sp>
        <p:nvSpPr>
          <p:cNvPr id="25" name="Text 19"/>
          <p:cNvSpPr txBox="1"/>
          <p:nvPr/>
        </p:nvSpPr>
        <p:spPr>
          <a:xfrm>
            <a:off x="6382512" y="3410712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validators • SQLite history • report exports</a:t>
            </a:r>
            <a:endParaRPr lang="en-US" sz="1300" dirty="0"/>
          </a:p>
        </p:txBody>
      </p:sp>
      <p:sp>
        <p:nvSpPr>
          <p:cNvPr id="26" name="Core scanner"/>
          <p:cNvSpPr/>
          <p:nvPr/>
        </p:nvSpPr>
        <p:spPr>
          <a:xfrm>
            <a:off x="3246120" y="1280160"/>
            <a:ext cx="2651760" cy="2880360"/>
          </a:xfrm>
          <a:prstGeom prst="roundRect">
            <a:avLst>
              <a:gd name="adj" fmla="val 3448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  <a:effectLst>
            <a:outerShdw sx="100000" sy="100000" kx="0" ky="0" algn="bl" rotWithShape="0" blurRad="127000" dist="25400" dir="5400000">
              <a:srgbClr val="0A1F44">
                <a:alpha val="12000"/>
              </a:srgbClr>
            </a:outerShdw>
          </a:effectLst>
        </p:spPr>
      </p:sp>
      <p:sp>
        <p:nvSpPr>
          <p:cNvPr id="27" name="Core icon box"/>
          <p:cNvSpPr/>
          <p:nvPr/>
        </p:nvSpPr>
        <p:spPr>
          <a:xfrm>
            <a:off x="3429000" y="1463040"/>
            <a:ext cx="502920" cy="502920"/>
          </a:xfrm>
          <a:prstGeom prst="roundRect">
            <a:avLst>
              <a:gd name="adj" fmla="val 18182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28" name="Core icon" descr="Core icon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54730" y="1588770"/>
            <a:ext cx="251460" cy="251460"/>
          </a:xfrm>
          <a:prstGeom prst="rect">
            <a:avLst/>
          </a:prstGeom>
        </p:spPr>
      </p:pic>
      <p:sp>
        <p:nvSpPr>
          <p:cNvPr id="29" name="Text 22"/>
          <p:cNvSpPr txBox="1"/>
          <p:nvPr/>
        </p:nvSpPr>
        <p:spPr>
          <a:xfrm>
            <a:off x="4069080" y="1463040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chemeClr val="accent1"/>
                </a:solidFill>
              </a:rPr>
              <a:t>CORE SCANNER</a:t>
            </a:r>
            <a:endParaRPr lang="en-US" sz="1300" dirty="0"/>
          </a:p>
        </p:txBody>
      </p:sp>
      <p:sp>
        <p:nvSpPr>
          <p:cNvPr id="30" name="Text 23"/>
          <p:cNvSpPr txBox="1"/>
          <p:nvPr/>
        </p:nvSpPr>
        <p:spPr>
          <a:xfrm>
            <a:off x="3520440" y="2240280"/>
            <a:ext cx="21945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parser</a:t>
            </a:r>
            <a:endParaRPr lang="en-US" sz="16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matcher</a:t>
            </a:r>
            <a:endParaRPr lang="en-US" sz="16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remediation</a:t>
            </a:r>
            <a:endParaRPr lang="en-US" sz="16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compare</a:t>
            </a:r>
            <a:endParaRPr lang="en-US" sz="1600" dirty="0"/>
          </a:p>
        </p:txBody>
      </p:sp>
      <p:pic>
        <p:nvPicPr>
          <p:cNvPr id="31" name="Connector 3.3" descr="Connector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017520" y="2651760"/>
            <a:ext cx="164592" cy="164592"/>
          </a:xfrm>
          <a:prstGeom prst="rect">
            <a:avLst/>
          </a:prstGeom>
        </p:spPr>
      </p:pic>
      <p:pic>
        <p:nvPicPr>
          <p:cNvPr id="32" name="Connector 6.5" descr="Connector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943600" y="2651760"/>
            <a:ext cx="164592" cy="164592"/>
          </a:xfrm>
          <a:prstGeom prst="rect">
            <a:avLst/>
          </a:prstGeom>
        </p:spPr>
      </p:pic>
      <p:sp>
        <p:nvSpPr>
          <p:cNvPr id="33" name="Text 24"/>
          <p:cNvSpPr txBox="1"/>
          <p:nvPr/>
        </p:nvSpPr>
        <p:spPr>
          <a:xfrm>
            <a:off x="457200" y="42976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Architecture flow: input → validation → parsing → lookup → matching → remediation → report/UI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2"/>
                </a:solidFill>
              </a:defRPr>
            </a:lvl1pPr>
          </a:lstStyle>
          <a:p>
            <a:pPr algn="r"/>
            <a:fld id="{F7021451-1387-4CA6-816F-3879F97B5CBC}" type="slidenum">
              <a:rPr b="1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1188720" y="310896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chemeClr val="accent2"/>
                </a:solidFill>
              </a:rPr>
              <a:t>PROCESSING</a:t>
            </a:r>
            <a:endParaRPr lang="en-US" sz="11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1188720" y="530352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Parsing and Input Validation</a:t>
            </a:r>
            <a:endParaRPr lang="en-US" sz="2800" dirty="0"/>
          </a:p>
        </p:txBody>
      </p:sp>
      <p:sp>
        <p:nvSpPr>
          <p:cNvPr id="4" name="Section badge"/>
          <p:cNvSpPr/>
          <p:nvPr/>
        </p:nvSpPr>
        <p:spPr>
          <a:xfrm>
            <a:off x="457200" y="329184"/>
            <a:ext cx="566928" cy="566928"/>
          </a:xfrm>
          <a:prstGeom prst="roundRect">
            <a:avLst>
              <a:gd name="adj" fmla="val 16129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329184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06</a:t>
            </a:r>
            <a:endParaRPr lang="en-US" sz="1800" dirty="0"/>
          </a:p>
        </p:txBody>
      </p:sp>
      <p:sp>
        <p:nvSpPr>
          <p:cNvPr id="6" name="REQUIREMENT PARSING card"/>
          <p:cNvSpPr/>
          <p:nvPr/>
        </p:nvSpPr>
        <p:spPr>
          <a:xfrm>
            <a:off x="457200" y="1280160"/>
            <a:ext cx="4023360" cy="1280160"/>
          </a:xfrm>
          <a:prstGeom prst="roundRect">
            <a:avLst>
              <a:gd name="adj" fmla="val 7143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27000" dist="25400" dir="5400000">
              <a:srgbClr val="0A1F44">
                <a:alpha val="12000"/>
              </a:srgbClr>
            </a:outerShdw>
          </a:effectLst>
        </p:spPr>
      </p:sp>
      <p:sp>
        <p:nvSpPr>
          <p:cNvPr id="7" name="REQUIREMENT PARSING icon box"/>
          <p:cNvSpPr/>
          <p:nvPr/>
        </p:nvSpPr>
        <p:spPr>
          <a:xfrm>
            <a:off x="640080" y="1417320"/>
            <a:ext cx="457200" cy="457200"/>
          </a:xfrm>
          <a:prstGeom prst="roundRect">
            <a:avLst>
              <a:gd name="adj" fmla="val 20000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8" name="REQUIREMENT PARSING icon" descr="REQUIREMENT PARSING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4380" y="1531620"/>
            <a:ext cx="228600" cy="228600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234440" y="141732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chemeClr val="accent2"/>
                </a:solidFill>
              </a:rPr>
              <a:t>REQUIREMENT PARSING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640080" y="196596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Extracts package name, version specifier, line number, and parsing status.</a:t>
            </a:r>
            <a:endParaRPr lang="en-US" sz="1400" dirty="0"/>
          </a:p>
        </p:txBody>
      </p:sp>
      <p:sp>
        <p:nvSpPr>
          <p:cNvPr id="11" name="VALIDATION card"/>
          <p:cNvSpPr/>
          <p:nvPr/>
        </p:nvSpPr>
        <p:spPr>
          <a:xfrm>
            <a:off x="4663440" y="1280160"/>
            <a:ext cx="4023360" cy="1280160"/>
          </a:xfrm>
          <a:prstGeom prst="roundRect">
            <a:avLst>
              <a:gd name="adj" fmla="val 7143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27000" dist="25400" dir="5400000">
              <a:srgbClr val="0A1F44">
                <a:alpha val="12000"/>
              </a:srgbClr>
            </a:outerShdw>
          </a:effectLst>
        </p:spPr>
      </p:sp>
      <p:sp>
        <p:nvSpPr>
          <p:cNvPr id="12" name="VALIDATION icon box"/>
          <p:cNvSpPr/>
          <p:nvPr/>
        </p:nvSpPr>
        <p:spPr>
          <a:xfrm>
            <a:off x="4846320" y="1417320"/>
            <a:ext cx="457200" cy="457200"/>
          </a:xfrm>
          <a:prstGeom prst="roundRect">
            <a:avLst>
              <a:gd name="adj" fmla="val 20000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3" name="VALIDATION icon" descr="VALIDATION ico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60620" y="1531620"/>
            <a:ext cx="228600" cy="228600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5440680" y="141732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chemeClr val="accent2"/>
                </a:solidFill>
              </a:rPr>
              <a:t>VALIDATION</a:t>
            </a:r>
            <a:endParaRPr lang="en-US" sz="1300" dirty="0"/>
          </a:p>
        </p:txBody>
      </p:sp>
      <p:sp>
        <p:nvSpPr>
          <p:cNvPr id="15" name="Text 11"/>
          <p:cNvSpPr txBox="1"/>
          <p:nvPr/>
        </p:nvSpPr>
        <p:spPr>
          <a:xfrm>
            <a:off x="4846320" y="196596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Checks uploaded file/text before scanning; invalid input is reported to the user.</a:t>
            </a:r>
            <a:endParaRPr lang="en-US" sz="1400" dirty="0"/>
          </a:p>
        </p:txBody>
      </p:sp>
      <p:sp>
        <p:nvSpPr>
          <p:cNvPr id="16" name="Text 12"/>
          <p:cNvSpPr txBox="1"/>
          <p:nvPr/>
        </p:nvSpPr>
        <p:spPr>
          <a:xfrm>
            <a:off x="457200" y="27432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Parser handles</a:t>
            </a:r>
            <a:endParaRPr lang="en-US" sz="1800" dirty="0"/>
          </a:p>
        </p:txBody>
      </p:sp>
      <p:sp>
        <p:nvSpPr>
          <p:cNvPr id="17" name="Parser rule 1"/>
          <p:cNvSpPr/>
          <p:nvPr/>
        </p:nvSpPr>
        <p:spPr>
          <a:xfrm>
            <a:off x="457200" y="3154680"/>
            <a:ext cx="2651760" cy="1463040"/>
          </a:xfrm>
          <a:prstGeom prst="roundRect">
            <a:avLst>
              <a:gd name="adj" fmla="val 6250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  <a:effectLst>
            <a:outerShdw sx="100000" sy="100000" kx="0" ky="0" algn="bl" rotWithShape="0" blurRad="127000" dist="25400" dir="5400000">
              <a:srgbClr val="0A1F44">
                <a:alpha val="12000"/>
              </a:srgbClr>
            </a:outerShdw>
          </a:effectLst>
        </p:spPr>
      </p:sp>
      <p:pic>
        <p:nvPicPr>
          <p:cNvPr id="18" name="Rule icon 1" descr="Rule icon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3273552"/>
            <a:ext cx="256032" cy="256032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640080" y="3611880"/>
            <a:ext cx="23317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Comments, line continuations, duplicate package entries, and malformed lines.</a:t>
            </a:r>
            <a:endParaRPr lang="en-US" sz="1300" dirty="0"/>
          </a:p>
        </p:txBody>
      </p:sp>
      <p:sp>
        <p:nvSpPr>
          <p:cNvPr id="20" name="Parser rule 2"/>
          <p:cNvSpPr/>
          <p:nvPr/>
        </p:nvSpPr>
        <p:spPr>
          <a:xfrm>
            <a:off x="3246120" y="3154680"/>
            <a:ext cx="2651760" cy="1463040"/>
          </a:xfrm>
          <a:prstGeom prst="roundRect">
            <a:avLst>
              <a:gd name="adj" fmla="val 6250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  <a:effectLst>
            <a:outerShdw sx="100000" sy="100000" kx="0" ky="0" algn="bl" rotWithShape="0" blurRad="127000" dist="25400" dir="5400000">
              <a:srgbClr val="0A1F44">
                <a:alpha val="12000"/>
              </a:srgbClr>
            </a:outerShdw>
          </a:effectLst>
        </p:spPr>
      </p:sp>
      <p:pic>
        <p:nvPicPr>
          <p:cNvPr id="21" name="Rule icon 2" descr="Rule icon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9000" y="3273552"/>
            <a:ext cx="256032" cy="256032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3429000" y="3611880"/>
            <a:ext cx="23317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Exact pinned versions are eligible for advisory matching.</a:t>
            </a:r>
            <a:endParaRPr lang="en-US" sz="1300" dirty="0"/>
          </a:p>
        </p:txBody>
      </p:sp>
      <p:sp>
        <p:nvSpPr>
          <p:cNvPr id="23" name="Parser rule 3"/>
          <p:cNvSpPr/>
          <p:nvPr/>
        </p:nvSpPr>
        <p:spPr>
          <a:xfrm>
            <a:off x="6035040" y="3154680"/>
            <a:ext cx="2651760" cy="1463040"/>
          </a:xfrm>
          <a:prstGeom prst="roundRect">
            <a:avLst>
              <a:gd name="adj" fmla="val 6250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  <a:effectLst>
            <a:outerShdw sx="100000" sy="100000" kx="0" ky="0" algn="bl" rotWithShape="0" blurRad="127000" dist="25400" dir="5400000">
              <a:srgbClr val="0A1F44">
                <a:alpha val="12000"/>
              </a:srgbClr>
            </a:outerShdw>
          </a:effectLst>
        </p:spPr>
      </p:sp>
      <p:pic>
        <p:nvPicPr>
          <p:cNvPr id="24" name="Rule icon 3" descr="Rule icon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17920" y="3273552"/>
            <a:ext cx="256032" cy="256032"/>
          </a:xfrm>
          <a:prstGeom prst="rect">
            <a:avLst/>
          </a:prstGeom>
        </p:spPr>
      </p:pic>
      <p:sp>
        <p:nvSpPr>
          <p:cNvPr id="25" name="Text 18"/>
          <p:cNvSpPr txBox="1"/>
          <p:nvPr/>
        </p:nvSpPr>
        <p:spPr>
          <a:xfrm>
            <a:off x="6217920" y="3611880"/>
            <a:ext cx="23317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Version ranges, unpinned packages, URLs, local paths, and options may be unresolved or skipped.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2"/>
                </a:solidFill>
              </a:defRPr>
            </a:lvl1pPr>
          </a:lstStyle>
          <a:p>
            <a:pPr algn="r"/>
            <a:fld id="{F7021451-1387-4CA6-816F-3879F97B5CBC}" type="slidenum">
              <a:rPr b="1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1188720" y="310896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chemeClr val="accent2"/>
                </a:solidFill>
              </a:rPr>
              <a:t>VULNERABILITY DATA</a:t>
            </a:r>
            <a:endParaRPr lang="en-US" sz="11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1188720" y="530352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Security Advisory Lookup</a:t>
            </a:r>
            <a:endParaRPr lang="en-US" sz="2800" dirty="0"/>
          </a:p>
        </p:txBody>
      </p:sp>
      <p:sp>
        <p:nvSpPr>
          <p:cNvPr id="4" name="Section badge"/>
          <p:cNvSpPr/>
          <p:nvPr/>
        </p:nvSpPr>
        <p:spPr>
          <a:xfrm>
            <a:off x="457200" y="329184"/>
            <a:ext cx="566928" cy="566928"/>
          </a:xfrm>
          <a:prstGeom prst="roundRect">
            <a:avLst>
              <a:gd name="adj" fmla="val 16129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329184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07</a:t>
            </a:r>
            <a:endParaRPr lang="en-US" sz="1800" dirty="0"/>
          </a:p>
        </p:txBody>
      </p:sp>
      <p:sp>
        <p:nvSpPr>
          <p:cNvPr id="6" name="ONLINE MODE card"/>
          <p:cNvSpPr/>
          <p:nvPr/>
        </p:nvSpPr>
        <p:spPr>
          <a:xfrm>
            <a:off x="457200" y="1280160"/>
            <a:ext cx="4023360" cy="1463040"/>
          </a:xfrm>
          <a:prstGeom prst="roundRect">
            <a:avLst>
              <a:gd name="adj" fmla="val 6250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  <a:effectLst>
            <a:outerShdw sx="100000" sy="100000" kx="0" ky="0" algn="bl" rotWithShape="0" blurRad="127000" dist="25400" dir="5400000">
              <a:srgbClr val="0A1F44">
                <a:alpha val="12000"/>
              </a:srgbClr>
            </a:outerShdw>
          </a:effectLst>
        </p:spPr>
      </p:sp>
      <p:sp>
        <p:nvSpPr>
          <p:cNvPr id="7" name="ONLINE MODE icon box"/>
          <p:cNvSpPr/>
          <p:nvPr/>
        </p:nvSpPr>
        <p:spPr>
          <a:xfrm>
            <a:off x="640080" y="1417320"/>
            <a:ext cx="457200" cy="457200"/>
          </a:xfrm>
          <a:prstGeom prst="roundRect">
            <a:avLst>
              <a:gd name="adj" fmla="val 20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8" name="ONLINE MODE icon" descr="ONLINE MODE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4380" y="1531620"/>
            <a:ext cx="228600" cy="228600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234440" y="141732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chemeClr val="bg1"/>
                </a:solidFill>
              </a:rPr>
              <a:t>ONLINE MODE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640080" y="196596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Queries OSV.dev for supported ecosystems and package-version advisory matches. Online mode requires internet access.</a:t>
            </a:r>
            <a:endParaRPr lang="en-US" sz="1400" dirty="0"/>
          </a:p>
        </p:txBody>
      </p:sp>
      <p:sp>
        <p:nvSpPr>
          <p:cNvPr id="11" name="OFFLINE MODE card"/>
          <p:cNvSpPr/>
          <p:nvPr/>
        </p:nvSpPr>
        <p:spPr>
          <a:xfrm>
            <a:off x="4663440" y="1280160"/>
            <a:ext cx="4023360" cy="1463040"/>
          </a:xfrm>
          <a:prstGeom prst="roundRect">
            <a:avLst>
              <a:gd name="adj" fmla="val 6250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  <a:effectLst>
            <a:outerShdw sx="100000" sy="100000" kx="0" ky="0" algn="bl" rotWithShape="0" blurRad="127000" dist="25400" dir="5400000">
              <a:srgbClr val="0A1F44">
                <a:alpha val="12000"/>
              </a:srgbClr>
            </a:outerShdw>
          </a:effectLst>
        </p:spPr>
      </p:sp>
      <p:sp>
        <p:nvSpPr>
          <p:cNvPr id="12" name="OFFLINE MODE icon box"/>
          <p:cNvSpPr/>
          <p:nvPr/>
        </p:nvSpPr>
        <p:spPr>
          <a:xfrm>
            <a:off x="4846320" y="1417320"/>
            <a:ext cx="457200" cy="457200"/>
          </a:xfrm>
          <a:prstGeom prst="roundRect">
            <a:avLst>
              <a:gd name="adj" fmla="val 20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3" name="OFFLINE MODE icon" descr="OFFLINE MODE ico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60620" y="1531620"/>
            <a:ext cx="228600" cy="228600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5440680" y="141732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chemeClr val="bg1"/>
                </a:solidFill>
              </a:rPr>
              <a:t>OFFLINE MODE</a:t>
            </a:r>
            <a:endParaRPr lang="en-US" sz="1300" dirty="0"/>
          </a:p>
        </p:txBody>
      </p:sp>
      <p:sp>
        <p:nvSpPr>
          <p:cNvPr id="15" name="Text 11"/>
          <p:cNvSpPr txBox="1"/>
          <p:nvPr/>
        </p:nvSpPr>
        <p:spPr>
          <a:xfrm>
            <a:off x="4846320" y="196596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Uses the bundled sample advisory snapshot and records cached from earlier online lookups.</a:t>
            </a:r>
            <a:endParaRPr lang="en-US" sz="1400" dirty="0"/>
          </a:p>
        </p:txBody>
      </p:sp>
      <p:sp>
        <p:nvSpPr>
          <p:cNvPr id="16" name="Text 12"/>
          <p:cNvSpPr txBox="1"/>
          <p:nvPr/>
        </p:nvSpPr>
        <p:spPr>
          <a:xfrm>
            <a:off x="457200" y="28803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Information presented when available</a:t>
            </a:r>
            <a:endParaRPr lang="en-US" sz="1800" dirty="0"/>
          </a:p>
        </p:txBody>
      </p:sp>
      <p:sp>
        <p:nvSpPr>
          <p:cNvPr id="17" name="Info card 1"/>
          <p:cNvSpPr/>
          <p:nvPr/>
        </p:nvSpPr>
        <p:spPr>
          <a:xfrm>
            <a:off x="457200" y="3291840"/>
            <a:ext cx="2651760" cy="1325880"/>
          </a:xfrm>
          <a:prstGeom prst="roundRect">
            <a:avLst>
              <a:gd name="adj" fmla="val 6897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27000" dist="25400" dir="5400000">
              <a:srgbClr val="0A1F44">
                <a:alpha val="12000"/>
              </a:srgbClr>
            </a:outerShdw>
          </a:effectLst>
        </p:spPr>
      </p:sp>
      <p:sp>
        <p:nvSpPr>
          <p:cNvPr id="18" name="Info icon 1 box"/>
          <p:cNvSpPr/>
          <p:nvPr/>
        </p:nvSpPr>
        <p:spPr>
          <a:xfrm>
            <a:off x="640080" y="3401568"/>
            <a:ext cx="347472" cy="347472"/>
          </a:xfrm>
          <a:prstGeom prst="roundRect">
            <a:avLst>
              <a:gd name="adj" fmla="val 26316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9" name="Info icon 1" descr="Info icon 1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6948" y="3488436"/>
            <a:ext cx="173736" cy="173736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640080" y="3822192"/>
            <a:ext cx="2331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Advisory ID, summary, source-provided severity, and reference links.</a:t>
            </a:r>
            <a:endParaRPr lang="en-US" sz="1300" dirty="0"/>
          </a:p>
        </p:txBody>
      </p:sp>
      <p:sp>
        <p:nvSpPr>
          <p:cNvPr id="21" name="Info card 2"/>
          <p:cNvSpPr/>
          <p:nvPr/>
        </p:nvSpPr>
        <p:spPr>
          <a:xfrm>
            <a:off x="3246120" y="3291840"/>
            <a:ext cx="2651760" cy="1325880"/>
          </a:xfrm>
          <a:prstGeom prst="roundRect">
            <a:avLst>
              <a:gd name="adj" fmla="val 6897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27000" dist="25400" dir="5400000">
              <a:srgbClr val="0A1F44">
                <a:alpha val="12000"/>
              </a:srgbClr>
            </a:outerShdw>
          </a:effectLst>
        </p:spPr>
      </p:sp>
      <p:sp>
        <p:nvSpPr>
          <p:cNvPr id="22" name="Info icon 2 box"/>
          <p:cNvSpPr/>
          <p:nvPr/>
        </p:nvSpPr>
        <p:spPr>
          <a:xfrm>
            <a:off x="3429000" y="3401568"/>
            <a:ext cx="347472" cy="347472"/>
          </a:xfrm>
          <a:prstGeom prst="roundRect">
            <a:avLst>
              <a:gd name="adj" fmla="val 26316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23" name="Info icon 2" descr="Info icon 2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15868" y="3488436"/>
            <a:ext cx="173736" cy="173736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3429000" y="3822192"/>
            <a:ext cx="2331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Affected version information and fixed versions when stated by the source.</a:t>
            </a:r>
            <a:endParaRPr lang="en-US" sz="1300" dirty="0"/>
          </a:p>
        </p:txBody>
      </p:sp>
      <p:sp>
        <p:nvSpPr>
          <p:cNvPr id="25" name="Info card 3"/>
          <p:cNvSpPr/>
          <p:nvPr/>
        </p:nvSpPr>
        <p:spPr>
          <a:xfrm>
            <a:off x="6035040" y="3291840"/>
            <a:ext cx="2651760" cy="1325880"/>
          </a:xfrm>
          <a:prstGeom prst="roundRect">
            <a:avLst>
              <a:gd name="adj" fmla="val 6897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27000" dist="25400" dir="5400000">
              <a:srgbClr val="0A1F44">
                <a:alpha val="12000"/>
              </a:srgbClr>
            </a:outerShdw>
          </a:effectLst>
        </p:spPr>
      </p:sp>
      <p:sp>
        <p:nvSpPr>
          <p:cNvPr id="26" name="Info icon 3 box"/>
          <p:cNvSpPr/>
          <p:nvPr/>
        </p:nvSpPr>
        <p:spPr>
          <a:xfrm>
            <a:off x="6217920" y="3401568"/>
            <a:ext cx="347472" cy="347472"/>
          </a:xfrm>
          <a:prstGeom prst="roundRect">
            <a:avLst>
              <a:gd name="adj" fmla="val 26316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27" name="Info icon 3" descr="Info icon 3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04788" y="3488436"/>
            <a:ext cx="173736" cy="173736"/>
          </a:xfrm>
          <a:prstGeom prst="rect">
            <a:avLst/>
          </a:prstGeom>
        </p:spPr>
      </p:pic>
      <p:sp>
        <p:nvSpPr>
          <p:cNvPr id="28" name="Text 21"/>
          <p:cNvSpPr txBox="1"/>
          <p:nvPr/>
        </p:nvSpPr>
        <p:spPr>
          <a:xfrm>
            <a:off x="6217920" y="3822192"/>
            <a:ext cx="2331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Lookup failures are labeled separately from confirmed matches.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2"/>
                </a:solidFill>
              </a:defRPr>
            </a:lvl1pPr>
          </a:lstStyle>
          <a:p>
            <a:pPr algn="r"/>
            <a:fld id="{F7021451-1387-4CA6-816F-3879F97B5CBC}" type="slidenum">
              <a:rPr b="1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1188720" y="310896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chemeClr val="accent2"/>
                </a:solidFill>
              </a:rPr>
              <a:t>ANALYSIS</a:t>
            </a:r>
            <a:endParaRPr lang="en-US" sz="11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1188720" y="530352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Version Matching and Result States</a:t>
            </a:r>
            <a:endParaRPr lang="en-US" sz="2800" dirty="0"/>
          </a:p>
        </p:txBody>
      </p:sp>
      <p:sp>
        <p:nvSpPr>
          <p:cNvPr id="4" name="Section badge"/>
          <p:cNvSpPr/>
          <p:nvPr/>
        </p:nvSpPr>
        <p:spPr>
          <a:xfrm>
            <a:off x="457200" y="329184"/>
            <a:ext cx="566928" cy="566928"/>
          </a:xfrm>
          <a:prstGeom prst="roundRect">
            <a:avLst>
              <a:gd name="adj" fmla="val 16129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329184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08</a:t>
            </a:r>
            <a:endParaRPr lang="en-US" sz="1800" dirty="0"/>
          </a:p>
        </p:txBody>
      </p:sp>
      <p:sp>
        <p:nvSpPr>
          <p:cNvPr id="6" name="State row Confirmed match"/>
          <p:cNvSpPr/>
          <p:nvPr/>
        </p:nvSpPr>
        <p:spPr>
          <a:xfrm>
            <a:off x="457200" y="1280160"/>
            <a:ext cx="8229600" cy="512064"/>
          </a:xfrm>
          <a:prstGeom prst="roundRect">
            <a:avLst>
              <a:gd name="adj" fmla="val 17857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27000" dist="25400" dir="5400000">
              <a:srgbClr val="0A1F44">
                <a:alpha val="12000"/>
              </a:srgbClr>
            </a:outerShdw>
          </a:effectLst>
        </p:spPr>
      </p:sp>
      <p:sp>
        <p:nvSpPr>
          <p:cNvPr id="7" name="Confirmed match icon box"/>
          <p:cNvSpPr/>
          <p:nvPr/>
        </p:nvSpPr>
        <p:spPr>
          <a:xfrm>
            <a:off x="566928" y="1353312"/>
            <a:ext cx="365760" cy="365760"/>
          </a:xfrm>
          <a:prstGeom prst="roundRect">
            <a:avLst>
              <a:gd name="adj" fmla="val 25000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8" name="Confirmed match icon" descr="Confirmed match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" y="1444752"/>
            <a:ext cx="182880" cy="182880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097280" y="1280160"/>
            <a:ext cx="21945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Confirmed match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3291840" y="1280160"/>
            <a:ext cx="53035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Advisory matches the exact pinned version.</a:t>
            </a:r>
            <a:endParaRPr lang="en-US" sz="1400" dirty="0"/>
          </a:p>
        </p:txBody>
      </p:sp>
      <p:sp>
        <p:nvSpPr>
          <p:cNvPr id="11" name="State row No matching record"/>
          <p:cNvSpPr/>
          <p:nvPr/>
        </p:nvSpPr>
        <p:spPr>
          <a:xfrm>
            <a:off x="457200" y="1865376"/>
            <a:ext cx="8229600" cy="512064"/>
          </a:xfrm>
          <a:prstGeom prst="roundRect">
            <a:avLst>
              <a:gd name="adj" fmla="val 17857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27000" dist="25400" dir="5400000">
              <a:srgbClr val="0A1F44">
                <a:alpha val="12000"/>
              </a:srgbClr>
            </a:outerShdw>
          </a:effectLst>
        </p:spPr>
      </p:sp>
      <p:sp>
        <p:nvSpPr>
          <p:cNvPr id="12" name="No matching record icon box"/>
          <p:cNvSpPr/>
          <p:nvPr/>
        </p:nvSpPr>
        <p:spPr>
          <a:xfrm>
            <a:off x="566928" y="1938528"/>
            <a:ext cx="365760" cy="365760"/>
          </a:xfrm>
          <a:prstGeom prst="roundRect">
            <a:avLst>
              <a:gd name="adj" fmla="val 25000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pic>
        <p:nvPicPr>
          <p:cNvPr id="13" name="No matching record icon" descr="No matching record ico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2029968"/>
            <a:ext cx="182880" cy="182880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1097280" y="1865376"/>
            <a:ext cx="21945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No matching record</a:t>
            </a:r>
            <a:endParaRPr lang="en-US" sz="1400" dirty="0"/>
          </a:p>
        </p:txBody>
      </p:sp>
      <p:sp>
        <p:nvSpPr>
          <p:cNvPr id="15" name="Text 11"/>
          <p:cNvSpPr txBox="1"/>
          <p:nvPr/>
        </p:nvSpPr>
        <p:spPr>
          <a:xfrm>
            <a:off x="3291840" y="1865376"/>
            <a:ext cx="53035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No record found in the selected source; not proof of safety.</a:t>
            </a:r>
            <a:endParaRPr lang="en-US" sz="1400" dirty="0"/>
          </a:p>
        </p:txBody>
      </p:sp>
      <p:sp>
        <p:nvSpPr>
          <p:cNvPr id="16" name="State row Unresolved version"/>
          <p:cNvSpPr/>
          <p:nvPr/>
        </p:nvSpPr>
        <p:spPr>
          <a:xfrm>
            <a:off x="457200" y="2450592"/>
            <a:ext cx="8229600" cy="512064"/>
          </a:xfrm>
          <a:prstGeom prst="roundRect">
            <a:avLst>
              <a:gd name="adj" fmla="val 17857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27000" dist="25400" dir="5400000">
              <a:srgbClr val="0A1F44">
                <a:alpha val="12000"/>
              </a:srgbClr>
            </a:outerShdw>
          </a:effectLst>
        </p:spPr>
      </p:sp>
      <p:sp>
        <p:nvSpPr>
          <p:cNvPr id="17" name="Unresolved version icon box"/>
          <p:cNvSpPr/>
          <p:nvPr/>
        </p:nvSpPr>
        <p:spPr>
          <a:xfrm>
            <a:off x="566928" y="2523744"/>
            <a:ext cx="365760" cy="365760"/>
          </a:xfrm>
          <a:prstGeom prst="roundRect">
            <a:avLst>
              <a:gd name="adj" fmla="val 25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8" name="Unresolved version icon" descr="Unresolved version icon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2615184"/>
            <a:ext cx="182880" cy="182880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1097280" y="2450592"/>
            <a:ext cx="21945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Unresolved version</a:t>
            </a:r>
            <a:endParaRPr lang="en-US" sz="1400" dirty="0"/>
          </a:p>
        </p:txBody>
      </p:sp>
      <p:sp>
        <p:nvSpPr>
          <p:cNvPr id="20" name="Text 15"/>
          <p:cNvSpPr txBox="1"/>
          <p:nvPr/>
        </p:nvSpPr>
        <p:spPr>
          <a:xfrm>
            <a:off x="3291840" y="2450592"/>
            <a:ext cx="53035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Version range or missing version cannot be checked exactly.</a:t>
            </a:r>
            <a:endParaRPr lang="en-US" sz="1400" dirty="0"/>
          </a:p>
        </p:txBody>
      </p:sp>
      <p:sp>
        <p:nvSpPr>
          <p:cNvPr id="21" name="State row Lookup unavailable"/>
          <p:cNvSpPr/>
          <p:nvPr/>
        </p:nvSpPr>
        <p:spPr>
          <a:xfrm>
            <a:off x="457200" y="3035808"/>
            <a:ext cx="8229600" cy="512064"/>
          </a:xfrm>
          <a:prstGeom prst="roundRect">
            <a:avLst>
              <a:gd name="adj" fmla="val 17857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27000" dist="25400" dir="5400000">
              <a:srgbClr val="0A1F44">
                <a:alpha val="12000"/>
              </a:srgbClr>
            </a:outerShdw>
          </a:effectLst>
        </p:spPr>
      </p:sp>
      <p:sp>
        <p:nvSpPr>
          <p:cNvPr id="22" name="Lookup unavailable icon box"/>
          <p:cNvSpPr/>
          <p:nvPr/>
        </p:nvSpPr>
        <p:spPr>
          <a:xfrm>
            <a:off x="566928" y="3108960"/>
            <a:ext cx="365760" cy="365760"/>
          </a:xfrm>
          <a:prstGeom prst="roundRect">
            <a:avLst>
              <a:gd name="adj" fmla="val 25000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23" name="Lookup unavailable icon" descr="Lookup unavailable icon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368" y="3200400"/>
            <a:ext cx="182880" cy="182880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1097280" y="3035808"/>
            <a:ext cx="21945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Lookup unavailable</a:t>
            </a:r>
            <a:endParaRPr lang="en-US" sz="1400" dirty="0"/>
          </a:p>
        </p:txBody>
      </p:sp>
      <p:sp>
        <p:nvSpPr>
          <p:cNvPr id="25" name="Text 19"/>
          <p:cNvSpPr txBox="1"/>
          <p:nvPr/>
        </p:nvSpPr>
        <p:spPr>
          <a:xfrm>
            <a:off x="3291840" y="3035808"/>
            <a:ext cx="53035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The advisory service could not be reached.</a:t>
            </a:r>
            <a:endParaRPr lang="en-US" sz="1400" dirty="0"/>
          </a:p>
        </p:txBody>
      </p:sp>
      <p:sp>
        <p:nvSpPr>
          <p:cNvPr id="26" name="State row Malformed / skipped"/>
          <p:cNvSpPr/>
          <p:nvPr/>
        </p:nvSpPr>
        <p:spPr>
          <a:xfrm>
            <a:off x="457200" y="3621024"/>
            <a:ext cx="8229600" cy="512064"/>
          </a:xfrm>
          <a:prstGeom prst="roundRect">
            <a:avLst>
              <a:gd name="adj" fmla="val 17857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27000" dist="25400" dir="5400000">
              <a:srgbClr val="0A1F44">
                <a:alpha val="12000"/>
              </a:srgbClr>
            </a:outerShdw>
          </a:effectLst>
        </p:spPr>
      </p:sp>
      <p:sp>
        <p:nvSpPr>
          <p:cNvPr id="27" name="Malformed / skipped icon box"/>
          <p:cNvSpPr/>
          <p:nvPr/>
        </p:nvSpPr>
        <p:spPr>
          <a:xfrm>
            <a:off x="566928" y="3694176"/>
            <a:ext cx="365760" cy="365760"/>
          </a:xfrm>
          <a:prstGeom prst="roundRect">
            <a:avLst>
              <a:gd name="adj" fmla="val 25000"/>
            </a:avLst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28" name="Malformed / skipped icon" descr="Malformed / skipped icon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8368" y="3785616"/>
            <a:ext cx="182880" cy="182880"/>
          </a:xfrm>
          <a:prstGeom prst="rect">
            <a:avLst/>
          </a:prstGeom>
        </p:spPr>
      </p:pic>
      <p:sp>
        <p:nvSpPr>
          <p:cNvPr id="29" name="Text 22"/>
          <p:cNvSpPr txBox="1"/>
          <p:nvPr/>
        </p:nvSpPr>
        <p:spPr>
          <a:xfrm>
            <a:off x="1097280" y="3621024"/>
            <a:ext cx="21945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Malformed / skipped</a:t>
            </a:r>
            <a:endParaRPr lang="en-US" sz="1400" dirty="0"/>
          </a:p>
        </p:txBody>
      </p:sp>
      <p:sp>
        <p:nvSpPr>
          <p:cNvPr id="30" name="Text 23"/>
          <p:cNvSpPr txBox="1"/>
          <p:nvPr/>
        </p:nvSpPr>
        <p:spPr>
          <a:xfrm>
            <a:off x="3291840" y="3621024"/>
            <a:ext cx="53035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Line is invalid or uses an unsupported option/path.</a:t>
            </a:r>
            <a:endParaRPr lang="en-US" sz="1400" dirty="0"/>
          </a:p>
        </p:txBody>
      </p:sp>
      <p:sp>
        <p:nvSpPr>
          <p:cNvPr id="31" name="Evidence statement"/>
          <p:cNvSpPr/>
          <p:nvPr/>
        </p:nvSpPr>
        <p:spPr>
          <a:xfrm>
            <a:off x="457200" y="4297680"/>
            <a:ext cx="8229600" cy="365760"/>
          </a:xfrm>
          <a:prstGeom prst="roundRect">
            <a:avLst>
              <a:gd name="adj" fmla="val 25000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32" name="Text 25"/>
          <p:cNvSpPr txBox="1"/>
          <p:nvPr/>
        </p:nvSpPr>
        <p:spPr>
          <a:xfrm>
            <a:off x="640080" y="429768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Matching is evidence-based: the tool does not invent severity or claim that an unchecked package is safe.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2"/>
                </a:solidFill>
              </a:defRPr>
            </a:lvl1pPr>
          </a:lstStyle>
          <a:p>
            <a:pPr algn="r"/>
            <a:fld id="{F7021451-1387-4CA6-816F-3879F97B5CBC}" type="slidenum">
              <a:rPr b="1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1188720" y="310896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chemeClr val="accent2"/>
                </a:solidFill>
              </a:rPr>
              <a:t>REMEDIATION</a:t>
            </a:r>
            <a:endParaRPr lang="en-US" sz="11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1188720" y="530352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Evidence-Based Upgrade Suggestions</a:t>
            </a:r>
            <a:endParaRPr lang="en-US" sz="2800" dirty="0"/>
          </a:p>
        </p:txBody>
      </p:sp>
      <p:sp>
        <p:nvSpPr>
          <p:cNvPr id="4" name="Section badge"/>
          <p:cNvSpPr/>
          <p:nvPr/>
        </p:nvSpPr>
        <p:spPr>
          <a:xfrm>
            <a:off x="457200" y="329184"/>
            <a:ext cx="566928" cy="566928"/>
          </a:xfrm>
          <a:prstGeom prst="roundRect">
            <a:avLst>
              <a:gd name="adj" fmla="val 16129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329184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09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2344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The system recommends an upgrade only when advisory records support a version that resolves the findings.</a:t>
            </a:r>
            <a:endParaRPr lang="en-US" sz="1400" dirty="0"/>
          </a:p>
        </p:txBody>
      </p:sp>
      <p:sp>
        <p:nvSpPr>
          <p:cNvPr id="7" name="Remediation step 1"/>
          <p:cNvSpPr/>
          <p:nvPr/>
        </p:nvSpPr>
        <p:spPr>
          <a:xfrm>
            <a:off x="457200" y="1874520"/>
            <a:ext cx="2651760" cy="1920240"/>
          </a:xfrm>
          <a:prstGeom prst="roundRect">
            <a:avLst>
              <a:gd name="adj" fmla="val 4762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27000" dist="25400" dir="5400000">
              <a:srgbClr val="0A1F44">
                <a:alpha val="12000"/>
              </a:srgbClr>
            </a:outerShdw>
          </a:effectLst>
        </p:spPr>
      </p:sp>
      <p:sp>
        <p:nvSpPr>
          <p:cNvPr id="8" name="Step number 1"/>
          <p:cNvSpPr/>
          <p:nvPr/>
        </p:nvSpPr>
        <p:spPr>
          <a:xfrm>
            <a:off x="640080" y="1645920"/>
            <a:ext cx="502920" cy="457200"/>
          </a:xfrm>
          <a:prstGeom prst="roundRect">
            <a:avLst>
              <a:gd name="adj" fmla="val 20000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40080" y="1645920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1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228600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chemeClr val="accent2"/>
                </a:solidFill>
              </a:rPr>
              <a:t>COLLECT FIXES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2651760"/>
            <a:ext cx="2331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Read fixed versions listed by the matched advisories.</a:t>
            </a:r>
            <a:endParaRPr lang="en-US" sz="1400" dirty="0"/>
          </a:p>
        </p:txBody>
      </p:sp>
      <p:sp>
        <p:nvSpPr>
          <p:cNvPr id="12" name="Remediation step 2"/>
          <p:cNvSpPr/>
          <p:nvPr/>
        </p:nvSpPr>
        <p:spPr>
          <a:xfrm>
            <a:off x="3246120" y="1874520"/>
            <a:ext cx="2651760" cy="1920240"/>
          </a:xfrm>
          <a:prstGeom prst="roundRect">
            <a:avLst>
              <a:gd name="adj" fmla="val 4762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27000" dist="25400" dir="5400000">
              <a:srgbClr val="0A1F44">
                <a:alpha val="12000"/>
              </a:srgbClr>
            </a:outerShdw>
          </a:effectLst>
        </p:spPr>
      </p:sp>
      <p:sp>
        <p:nvSpPr>
          <p:cNvPr id="13" name="Step number 2"/>
          <p:cNvSpPr/>
          <p:nvPr/>
        </p:nvSpPr>
        <p:spPr>
          <a:xfrm>
            <a:off x="3429000" y="1645920"/>
            <a:ext cx="502920" cy="457200"/>
          </a:xfrm>
          <a:prstGeom prst="roundRect">
            <a:avLst>
              <a:gd name="adj" fmla="val 20000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3429000" y="1645920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2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3429000" y="228600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chemeClr val="accent2"/>
                </a:solidFill>
              </a:rPr>
              <a:t>CHECK TARGET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3429000" y="2651760"/>
            <a:ext cx="2331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Check that the target version is not still marked affected by those advisories.</a:t>
            </a:r>
            <a:endParaRPr lang="en-US" sz="1400" dirty="0"/>
          </a:p>
        </p:txBody>
      </p:sp>
      <p:sp>
        <p:nvSpPr>
          <p:cNvPr id="17" name="Remediation step 3"/>
          <p:cNvSpPr/>
          <p:nvPr/>
        </p:nvSpPr>
        <p:spPr>
          <a:xfrm>
            <a:off x="6035040" y="1874520"/>
            <a:ext cx="2651760" cy="1920240"/>
          </a:xfrm>
          <a:prstGeom prst="roundRect">
            <a:avLst>
              <a:gd name="adj" fmla="val 4762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27000" dist="25400" dir="5400000">
              <a:srgbClr val="0A1F44">
                <a:alpha val="12000"/>
              </a:srgbClr>
            </a:outerShdw>
          </a:effectLst>
        </p:spPr>
      </p:sp>
      <p:sp>
        <p:nvSpPr>
          <p:cNvPr id="18" name="Step number 3"/>
          <p:cNvSpPr/>
          <p:nvPr/>
        </p:nvSpPr>
        <p:spPr>
          <a:xfrm>
            <a:off x="6217920" y="1645920"/>
            <a:ext cx="502920" cy="457200"/>
          </a:xfrm>
          <a:prstGeom prst="roundRect">
            <a:avLst>
              <a:gd name="adj" fmla="val 20000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217920" y="1645920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3</a:t>
            </a:r>
            <a:endParaRPr lang="en-US" sz="1800" dirty="0"/>
          </a:p>
        </p:txBody>
      </p:sp>
      <p:sp>
        <p:nvSpPr>
          <p:cNvPr id="20" name="Text 18"/>
          <p:cNvSpPr txBox="1"/>
          <p:nvPr/>
        </p:nvSpPr>
        <p:spPr>
          <a:xfrm>
            <a:off x="6217920" y="228600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chemeClr val="accent2"/>
                </a:solidFill>
              </a:rPr>
              <a:t>SHOW CAVEAT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6217920" y="2651760"/>
            <a:ext cx="2331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Warn that upgrades may affect compatibility and tests must be rerun.</a:t>
            </a:r>
            <a:endParaRPr lang="en-US" sz="1400" dirty="0"/>
          </a:p>
        </p:txBody>
      </p:sp>
      <p:sp>
        <p:nvSpPr>
          <p:cNvPr id="22" name="Limitation callout"/>
          <p:cNvSpPr/>
          <p:nvPr/>
        </p:nvSpPr>
        <p:spPr>
          <a:xfrm>
            <a:off x="457200" y="3931920"/>
            <a:ext cx="8229600" cy="685800"/>
          </a:xfrm>
          <a:prstGeom prst="roundRect">
            <a:avLst>
              <a:gd name="adj" fmla="val 13333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3" name="Limitation icon box"/>
          <p:cNvSpPr/>
          <p:nvPr/>
        </p:nvSpPr>
        <p:spPr>
          <a:xfrm>
            <a:off x="594360" y="4069080"/>
            <a:ext cx="411480" cy="411480"/>
          </a:xfrm>
          <a:prstGeom prst="roundRect">
            <a:avLst>
              <a:gd name="adj" fmla="val 22222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pic>
        <p:nvPicPr>
          <p:cNvPr id="24" name="Limitation icon" descr="Limitation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7230" y="4171950"/>
            <a:ext cx="205740" cy="205740"/>
          </a:xfrm>
          <a:prstGeom prst="rect">
            <a:avLst/>
          </a:prstGeom>
        </p:spPr>
      </p:pic>
      <p:sp>
        <p:nvSpPr>
          <p:cNvPr id="25" name="Text 22"/>
          <p:cNvSpPr txBox="1"/>
          <p:nvPr/>
        </p:nvSpPr>
        <p:spPr>
          <a:xfrm>
            <a:off x="1188720" y="3931920"/>
            <a:ext cx="2103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tx1"/>
                </a:solidFill>
              </a:rPr>
              <a:t>IMPORTANT LIMITATION</a:t>
            </a:r>
            <a:endParaRPr lang="en-US" sz="1200" dirty="0"/>
          </a:p>
        </p:txBody>
      </p:sp>
      <p:sp>
        <p:nvSpPr>
          <p:cNvPr id="26" name="Text 23"/>
          <p:cNvSpPr txBox="1"/>
          <p:nvPr/>
        </p:nvSpPr>
        <p:spPr>
          <a:xfrm>
            <a:off x="3291840" y="3931920"/>
            <a:ext cx="5257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Suggested upgrades are not guaranteed compatible and must be validated in the project.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2"/>
                </a:solidFill>
              </a:defRPr>
            </a:lvl1pPr>
          </a:lstStyle>
          <a:p>
            <a:pPr algn="r"/>
            <a:fld id="{F7021451-1387-4CA6-816F-3879F97B5CBC}" type="slidenum">
              <a:rPr b="1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1188720" y="310896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chemeClr val="accent1"/>
                </a:solidFill>
              </a:rPr>
              <a:t>USER INTERFACE</a:t>
            </a:r>
            <a:endParaRPr lang="en-US" sz="11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1188720" y="530352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bg1"/>
                </a:solidFill>
              </a:rPr>
              <a:t>Dashboard and Data Visualization</a:t>
            </a:r>
            <a:endParaRPr lang="en-US" sz="2800" dirty="0"/>
          </a:p>
        </p:txBody>
      </p:sp>
      <p:sp>
        <p:nvSpPr>
          <p:cNvPr id="4" name="Section badge"/>
          <p:cNvSpPr/>
          <p:nvPr/>
        </p:nvSpPr>
        <p:spPr>
          <a:xfrm>
            <a:off x="457200" y="329184"/>
            <a:ext cx="566928" cy="566928"/>
          </a:xfrm>
          <a:prstGeom prst="roundRect">
            <a:avLst>
              <a:gd name="adj" fmla="val 16129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329184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10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2344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The Streamlit dashboard presents scan outcomes in several views.</a:t>
            </a:r>
            <a:endParaRPr lang="en-US" sz="1400" dirty="0"/>
          </a:p>
        </p:txBody>
      </p:sp>
      <p:sp>
        <p:nvSpPr>
          <p:cNvPr id="7" name="View card FINDINGS"/>
          <p:cNvSpPr/>
          <p:nvPr/>
        </p:nvSpPr>
        <p:spPr>
          <a:xfrm>
            <a:off x="457200" y="1691640"/>
            <a:ext cx="2651760" cy="2011680"/>
          </a:xfrm>
          <a:prstGeom prst="roundRect">
            <a:avLst>
              <a:gd name="adj" fmla="val 4545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8" name="FINDINGS icon box"/>
          <p:cNvSpPr/>
          <p:nvPr/>
        </p:nvSpPr>
        <p:spPr>
          <a:xfrm>
            <a:off x="640080" y="1828800"/>
            <a:ext cx="502920" cy="502920"/>
          </a:xfrm>
          <a:prstGeom prst="roundRect">
            <a:avLst>
              <a:gd name="adj" fmla="val 18182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9" name="FINDINGS icon" descr="FINDINGS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5810" y="1954530"/>
            <a:ext cx="251460" cy="251460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640080" y="246888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chemeClr val="accent1"/>
                </a:solidFill>
              </a:rPr>
              <a:t>FINDINGS</a:t>
            </a:r>
            <a:endParaRPr lang="en-US" sz="1300" dirty="0"/>
          </a:p>
        </p:txBody>
      </p:sp>
      <p:sp>
        <p:nvSpPr>
          <p:cNvPr id="11" name="Text 8"/>
          <p:cNvSpPr txBox="1"/>
          <p:nvPr/>
        </p:nvSpPr>
        <p:spPr>
          <a:xfrm>
            <a:off x="640080" y="2788920"/>
            <a:ext cx="2331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Advisory IDs, summaries, severity, fixed versions, and suggested upgrades.</a:t>
            </a:r>
            <a:endParaRPr lang="en-US" sz="1400" dirty="0"/>
          </a:p>
        </p:txBody>
      </p:sp>
      <p:sp>
        <p:nvSpPr>
          <p:cNvPr id="12" name="View card ALL PACKAGES"/>
          <p:cNvSpPr/>
          <p:nvPr/>
        </p:nvSpPr>
        <p:spPr>
          <a:xfrm>
            <a:off x="3246120" y="1691640"/>
            <a:ext cx="2651760" cy="2011680"/>
          </a:xfrm>
          <a:prstGeom prst="roundRect">
            <a:avLst>
              <a:gd name="adj" fmla="val 4545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3" name="ALL PACKAGES icon box"/>
          <p:cNvSpPr/>
          <p:nvPr/>
        </p:nvSpPr>
        <p:spPr>
          <a:xfrm>
            <a:off x="3429000" y="1828800"/>
            <a:ext cx="502920" cy="502920"/>
          </a:xfrm>
          <a:prstGeom prst="roundRect">
            <a:avLst>
              <a:gd name="adj" fmla="val 18182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4" name="ALL PACKAGES icon" descr="ALL PACKAGES ico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54730" y="1954530"/>
            <a:ext cx="251460" cy="251460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3429000" y="246888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chemeClr val="accent1"/>
                </a:solidFill>
              </a:rPr>
              <a:t>ALL PACKAGES</a:t>
            </a:r>
            <a:endParaRPr lang="en-US" sz="1300" dirty="0"/>
          </a:p>
        </p:txBody>
      </p:sp>
      <p:sp>
        <p:nvSpPr>
          <p:cNvPr id="16" name="Text 12"/>
          <p:cNvSpPr txBox="1"/>
          <p:nvPr/>
        </p:nvSpPr>
        <p:spPr>
          <a:xfrm>
            <a:off x="3429000" y="2788920"/>
            <a:ext cx="2331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Package list with status filters and incomplete-check notes.</a:t>
            </a:r>
            <a:endParaRPr lang="en-US" sz="1400" dirty="0"/>
          </a:p>
        </p:txBody>
      </p:sp>
      <p:sp>
        <p:nvSpPr>
          <p:cNvPr id="17" name="View card CHARTS"/>
          <p:cNvSpPr/>
          <p:nvPr/>
        </p:nvSpPr>
        <p:spPr>
          <a:xfrm>
            <a:off x="6035040" y="1691640"/>
            <a:ext cx="2651760" cy="2011680"/>
          </a:xfrm>
          <a:prstGeom prst="roundRect">
            <a:avLst>
              <a:gd name="adj" fmla="val 4545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8" name="CHARTS icon box"/>
          <p:cNvSpPr/>
          <p:nvPr/>
        </p:nvSpPr>
        <p:spPr>
          <a:xfrm>
            <a:off x="6217920" y="1828800"/>
            <a:ext cx="502920" cy="502920"/>
          </a:xfrm>
          <a:prstGeom prst="roundRect">
            <a:avLst>
              <a:gd name="adj" fmla="val 18182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9" name="CHARTS icon" descr="CHARTS icon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43650" y="1954530"/>
            <a:ext cx="251460" cy="251460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6217920" y="246888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chemeClr val="accent1"/>
                </a:solidFill>
              </a:rPr>
              <a:t>CHARTS</a:t>
            </a:r>
            <a:endParaRPr lang="en-US" sz="1300" dirty="0"/>
          </a:p>
        </p:txBody>
      </p:sp>
      <p:sp>
        <p:nvSpPr>
          <p:cNvPr id="21" name="Text 16"/>
          <p:cNvSpPr txBox="1"/>
          <p:nvPr/>
        </p:nvSpPr>
        <p:spPr>
          <a:xfrm>
            <a:off x="6217920" y="2788920"/>
            <a:ext cx="2331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Package-result distribution and advisory counts by source-provided severity.</a:t>
            </a:r>
            <a:endParaRPr lang="en-US" sz="1400" dirty="0"/>
          </a:p>
        </p:txBody>
      </p:sp>
      <p:sp>
        <p:nvSpPr>
          <p:cNvPr id="22" name="Result summary"/>
          <p:cNvSpPr/>
          <p:nvPr/>
        </p:nvSpPr>
        <p:spPr>
          <a:xfrm>
            <a:off x="457200" y="3840480"/>
            <a:ext cx="8229600" cy="731520"/>
          </a:xfrm>
          <a:prstGeom prst="roundRect">
            <a:avLst>
              <a:gd name="adj" fmla="val 12500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23" name="Text 18"/>
          <p:cNvSpPr txBox="1"/>
          <p:nvPr/>
        </p:nvSpPr>
        <p:spPr>
          <a:xfrm>
            <a:off x="640080" y="384048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bg1"/>
                </a:solidFill>
              </a:rPr>
              <a:t>RESULT SUMMARY</a:t>
            </a:r>
            <a:endParaRPr lang="en-US" sz="1200" dirty="0"/>
          </a:p>
        </p:txBody>
      </p:sp>
      <p:sp>
        <p:nvSpPr>
          <p:cNvPr id="24" name="Text 19"/>
          <p:cNvSpPr txBox="1"/>
          <p:nvPr/>
        </p:nvSpPr>
        <p:spPr>
          <a:xfrm>
            <a:off x="2468880" y="3840480"/>
            <a:ext cx="6035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Counts are grouped by confirmed, no-match, unresolved, lookup-unavailable, and malformed states.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1"/>
                </a:solidFill>
              </a:defRPr>
            </a:lvl1pPr>
          </a:lstStyle>
          <a:p>
            <a:pPr algn="r"/>
            <a:fld id="{F7021451-1387-4CA6-816F-3879F97B5CBC}" type="slidenum">
              <a:rPr b="1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1188720" y="310896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chemeClr val="accent2"/>
                </a:solidFill>
              </a:rPr>
              <a:t>OUTPUTS</a:t>
            </a:r>
            <a:endParaRPr lang="en-US" sz="11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1188720" y="530352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Reports and Scan History</a:t>
            </a:r>
            <a:endParaRPr lang="en-US" sz="2800" dirty="0"/>
          </a:p>
        </p:txBody>
      </p:sp>
      <p:sp>
        <p:nvSpPr>
          <p:cNvPr id="4" name="Section badge"/>
          <p:cNvSpPr/>
          <p:nvPr/>
        </p:nvSpPr>
        <p:spPr>
          <a:xfrm>
            <a:off x="457200" y="329184"/>
            <a:ext cx="566928" cy="566928"/>
          </a:xfrm>
          <a:prstGeom prst="roundRect">
            <a:avLst>
              <a:gd name="adj" fmla="val 16129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329184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11</a:t>
            </a:r>
            <a:endParaRPr lang="en-US" sz="1800" dirty="0"/>
          </a:p>
        </p:txBody>
      </p:sp>
      <p:sp>
        <p:nvSpPr>
          <p:cNvPr id="6" name="Report card MARKDOWN"/>
          <p:cNvSpPr/>
          <p:nvPr/>
        </p:nvSpPr>
        <p:spPr>
          <a:xfrm>
            <a:off x="457200" y="1280160"/>
            <a:ext cx="2651760" cy="1737360"/>
          </a:xfrm>
          <a:prstGeom prst="roundRect">
            <a:avLst>
              <a:gd name="adj" fmla="val 5263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27000" dist="25400" dir="5400000">
              <a:srgbClr val="0A1F44">
                <a:alpha val="12000"/>
              </a:srgbClr>
            </a:outerShdw>
          </a:effectLst>
        </p:spPr>
      </p:sp>
      <p:sp>
        <p:nvSpPr>
          <p:cNvPr id="7" name="Format badge MARKDOWN"/>
          <p:cNvSpPr/>
          <p:nvPr/>
        </p:nvSpPr>
        <p:spPr>
          <a:xfrm>
            <a:off x="640080" y="1444752"/>
            <a:ext cx="868680" cy="502920"/>
          </a:xfrm>
          <a:prstGeom prst="roundRect">
            <a:avLst>
              <a:gd name="adj" fmla="val 18182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0080" y="1444752"/>
            <a:ext cx="868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MD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1645920" y="1444752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chemeClr val="tx1"/>
                </a:solidFill>
              </a:rPr>
              <a:t>MARKDOWN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2103120"/>
            <a:ext cx="2331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Readable report for documentation and review.</a:t>
            </a:r>
            <a:endParaRPr lang="en-US" sz="1400" dirty="0"/>
          </a:p>
        </p:txBody>
      </p:sp>
      <p:sp>
        <p:nvSpPr>
          <p:cNvPr id="11" name="Report card CSV"/>
          <p:cNvSpPr/>
          <p:nvPr/>
        </p:nvSpPr>
        <p:spPr>
          <a:xfrm>
            <a:off x="3246120" y="1280160"/>
            <a:ext cx="2651760" cy="1737360"/>
          </a:xfrm>
          <a:prstGeom prst="roundRect">
            <a:avLst>
              <a:gd name="adj" fmla="val 5263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27000" dist="25400" dir="5400000">
              <a:srgbClr val="0A1F44">
                <a:alpha val="12000"/>
              </a:srgbClr>
            </a:outerShdw>
          </a:effectLst>
        </p:spPr>
      </p:sp>
      <p:sp>
        <p:nvSpPr>
          <p:cNvPr id="12" name="Format badge CSV"/>
          <p:cNvSpPr/>
          <p:nvPr/>
        </p:nvSpPr>
        <p:spPr>
          <a:xfrm>
            <a:off x="3429000" y="1444752"/>
            <a:ext cx="868680" cy="502920"/>
          </a:xfrm>
          <a:prstGeom prst="roundRect">
            <a:avLst>
              <a:gd name="adj" fmla="val 18182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3429000" y="1444752"/>
            <a:ext cx="868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CSV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4434840" y="1444752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chemeClr val="tx1"/>
                </a:solidFill>
              </a:rPr>
              <a:t>CSV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3429000" y="2103120"/>
            <a:ext cx="2331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Package-level rows for spreadsheet analysis.</a:t>
            </a:r>
            <a:endParaRPr lang="en-US" sz="1400" dirty="0"/>
          </a:p>
        </p:txBody>
      </p:sp>
      <p:sp>
        <p:nvSpPr>
          <p:cNvPr id="16" name="Report card JSON"/>
          <p:cNvSpPr/>
          <p:nvPr/>
        </p:nvSpPr>
        <p:spPr>
          <a:xfrm>
            <a:off x="6035040" y="1280160"/>
            <a:ext cx="2651760" cy="1737360"/>
          </a:xfrm>
          <a:prstGeom prst="roundRect">
            <a:avLst>
              <a:gd name="adj" fmla="val 5263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27000" dist="25400" dir="5400000">
              <a:srgbClr val="0A1F44">
                <a:alpha val="12000"/>
              </a:srgbClr>
            </a:outerShdw>
          </a:effectLst>
        </p:spPr>
      </p:sp>
      <p:sp>
        <p:nvSpPr>
          <p:cNvPr id="17" name="Format badge JSON"/>
          <p:cNvSpPr/>
          <p:nvPr/>
        </p:nvSpPr>
        <p:spPr>
          <a:xfrm>
            <a:off x="6217920" y="1444752"/>
            <a:ext cx="868680" cy="502920"/>
          </a:xfrm>
          <a:prstGeom prst="roundRect">
            <a:avLst>
              <a:gd name="adj" fmla="val 18182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217920" y="1444752"/>
            <a:ext cx="868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 }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7223760" y="1444752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chemeClr val="tx1"/>
                </a:solidFill>
              </a:rPr>
              <a:t>JSON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6217920" y="2103120"/>
            <a:ext cx="2331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Structured full report for further processing.</a:t>
            </a:r>
            <a:endParaRPr lang="en-US" sz="1400" dirty="0"/>
          </a:p>
        </p:txBody>
      </p:sp>
      <p:sp>
        <p:nvSpPr>
          <p:cNvPr id="21" name="History card"/>
          <p:cNvSpPr/>
          <p:nvPr/>
        </p:nvSpPr>
        <p:spPr>
          <a:xfrm>
            <a:off x="457200" y="3200400"/>
            <a:ext cx="5394960" cy="1417320"/>
          </a:xfrm>
          <a:prstGeom prst="roundRect">
            <a:avLst>
              <a:gd name="adj" fmla="val 6452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27000" dist="25400" dir="5400000">
              <a:srgbClr val="0A1F44">
                <a:alpha val="12000"/>
              </a:srgbClr>
            </a:outerShdw>
          </a:effectLst>
        </p:spPr>
      </p:sp>
      <p:sp>
        <p:nvSpPr>
          <p:cNvPr id="22" name="Text 20"/>
          <p:cNvSpPr txBox="1"/>
          <p:nvPr/>
        </p:nvSpPr>
        <p:spPr>
          <a:xfrm>
            <a:off x="640080" y="329184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2"/>
                </a:solidFill>
              </a:rPr>
              <a:t>Scan history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640080" y="3657600"/>
            <a:ext cx="5074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Stores scan reports in a local SQLite database.</a:t>
            </a:r>
            <a:endParaRPr lang="en-US" sz="130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Lists previous scans and compares two scans.</a:t>
            </a:r>
            <a:endParaRPr lang="en-US" sz="130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Highlights newly introduced, resolved, and still-present findings.</a:t>
            </a:r>
            <a:endParaRPr lang="en-US" sz="1300" dirty="0"/>
          </a:p>
        </p:txBody>
      </p:sp>
      <p:sp>
        <p:nvSpPr>
          <p:cNvPr id="24" name="History note"/>
          <p:cNvSpPr/>
          <p:nvPr/>
        </p:nvSpPr>
        <p:spPr>
          <a:xfrm>
            <a:off x="6035040" y="3200400"/>
            <a:ext cx="2651760" cy="1417320"/>
          </a:xfrm>
          <a:prstGeom prst="roundRect">
            <a:avLst>
              <a:gd name="adj" fmla="val 6452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  <a:effectLst>
            <a:outerShdw sx="100000" sy="100000" kx="0" ky="0" algn="bl" rotWithShape="0" blurRad="127000" dist="25400" dir="5400000">
              <a:srgbClr val="0A1F44">
                <a:alpha val="12000"/>
              </a:srgbClr>
            </a:outerShdw>
          </a:effectLst>
        </p:spPr>
      </p:sp>
      <p:pic>
        <p:nvPicPr>
          <p:cNvPr id="25" name="Note icon" descr="Not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17920" y="3337560"/>
            <a:ext cx="256032" cy="256032"/>
          </a:xfrm>
          <a:prstGeom prst="rect">
            <a:avLst/>
          </a:prstGeom>
        </p:spPr>
      </p:pic>
      <p:sp>
        <p:nvSpPr>
          <p:cNvPr id="26" name="Text 23"/>
          <p:cNvSpPr txBox="1"/>
          <p:nvPr/>
        </p:nvSpPr>
        <p:spPr>
          <a:xfrm>
            <a:off x="6217920" y="3675888"/>
            <a:ext cx="233172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chemeClr val="bg1"/>
                </a:solidFill>
              </a:rPr>
              <a:t>On Streamlit Community Cloud, local SQLite history may reset when the app restarts.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2"/>
                </a:solidFill>
              </a:defRPr>
            </a:lvl1pPr>
          </a:lstStyle>
          <a:p>
            <a:pPr algn="r"/>
            <a:fld id="{F7021451-1387-4CA6-816F-3879F97B5CBC}" type="slidenum">
              <a:rPr b="1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1188720" y="310896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chemeClr val="accent2"/>
                </a:solidFill>
              </a:rPr>
              <a:t>IMPLEMENTATION</a:t>
            </a:r>
            <a:endParaRPr lang="en-US" sz="11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1188720" y="530352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Technology Stack and Testing</a:t>
            </a:r>
            <a:endParaRPr lang="en-US" sz="2800" dirty="0"/>
          </a:p>
        </p:txBody>
      </p:sp>
      <p:sp>
        <p:nvSpPr>
          <p:cNvPr id="4" name="Section badge"/>
          <p:cNvSpPr/>
          <p:nvPr/>
        </p:nvSpPr>
        <p:spPr>
          <a:xfrm>
            <a:off x="457200" y="329184"/>
            <a:ext cx="566928" cy="566928"/>
          </a:xfrm>
          <a:prstGeom prst="roundRect">
            <a:avLst>
              <a:gd name="adj" fmla="val 16129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329184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12</a:t>
            </a:r>
            <a:endParaRPr lang="en-US" sz="1800" dirty="0"/>
          </a:p>
        </p:txBody>
      </p:sp>
      <p:sp>
        <p:nvSpPr>
          <p:cNvPr id="6" name="Tech tile Python 3.11/3.12"/>
          <p:cNvSpPr/>
          <p:nvPr/>
        </p:nvSpPr>
        <p:spPr>
          <a:xfrm>
            <a:off x="457200" y="1280160"/>
            <a:ext cx="2788920" cy="987552"/>
          </a:xfrm>
          <a:prstGeom prst="roundRect">
            <a:avLst>
              <a:gd name="adj" fmla="val 9259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27000" dist="25400" dir="5400000">
              <a:srgbClr val="0A1F44">
                <a:alpha val="12000"/>
              </a:srgbClr>
            </a:outerShdw>
          </a:effectLst>
        </p:spPr>
      </p:sp>
      <p:sp>
        <p:nvSpPr>
          <p:cNvPr id="7" name="Python 3.11/3.12 icon box"/>
          <p:cNvSpPr/>
          <p:nvPr/>
        </p:nvSpPr>
        <p:spPr>
          <a:xfrm>
            <a:off x="594360" y="1545336"/>
            <a:ext cx="457200" cy="457200"/>
          </a:xfrm>
          <a:prstGeom prst="roundRect">
            <a:avLst>
              <a:gd name="adj" fmla="val 20000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8" name="Python 3.11/3.12 icon" descr="Python 3.11/3.12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8660" y="1659636"/>
            <a:ext cx="228600" cy="228600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188720" y="1389888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Python 3.11/3.12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1188720" y="1691640"/>
            <a:ext cx="1965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Core programming language</a:t>
            </a:r>
            <a:endParaRPr lang="en-US" sz="1200" dirty="0"/>
          </a:p>
        </p:txBody>
      </p:sp>
      <p:sp>
        <p:nvSpPr>
          <p:cNvPr id="11" name="Tech tile Streamlit"/>
          <p:cNvSpPr/>
          <p:nvPr/>
        </p:nvSpPr>
        <p:spPr>
          <a:xfrm>
            <a:off x="3383280" y="1280160"/>
            <a:ext cx="2788920" cy="987552"/>
          </a:xfrm>
          <a:prstGeom prst="roundRect">
            <a:avLst>
              <a:gd name="adj" fmla="val 9259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27000" dist="25400" dir="5400000">
              <a:srgbClr val="0A1F44">
                <a:alpha val="12000"/>
              </a:srgbClr>
            </a:outerShdw>
          </a:effectLst>
        </p:spPr>
      </p:sp>
      <p:sp>
        <p:nvSpPr>
          <p:cNvPr id="12" name="Streamlit icon box"/>
          <p:cNvSpPr/>
          <p:nvPr/>
        </p:nvSpPr>
        <p:spPr>
          <a:xfrm>
            <a:off x="3520440" y="1545336"/>
            <a:ext cx="457200" cy="457200"/>
          </a:xfrm>
          <a:prstGeom prst="roundRect">
            <a:avLst>
              <a:gd name="adj" fmla="val 20000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3" name="Streamlit icon" descr="Streamlit ico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34740" y="1659636"/>
            <a:ext cx="228600" cy="228600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4114800" y="1389888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Streamlit</a:t>
            </a:r>
            <a:endParaRPr lang="en-US" sz="1400" dirty="0"/>
          </a:p>
        </p:txBody>
      </p:sp>
      <p:sp>
        <p:nvSpPr>
          <p:cNvPr id="15" name="Text 11"/>
          <p:cNvSpPr txBox="1"/>
          <p:nvPr/>
        </p:nvSpPr>
        <p:spPr>
          <a:xfrm>
            <a:off x="4114800" y="1691640"/>
            <a:ext cx="1965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Interactive web application</a:t>
            </a:r>
            <a:endParaRPr lang="en-US" sz="1200" dirty="0"/>
          </a:p>
        </p:txBody>
      </p:sp>
      <p:sp>
        <p:nvSpPr>
          <p:cNvPr id="16" name="Tech tile packaging"/>
          <p:cNvSpPr/>
          <p:nvPr/>
        </p:nvSpPr>
        <p:spPr>
          <a:xfrm>
            <a:off x="457200" y="2377440"/>
            <a:ext cx="2788920" cy="987552"/>
          </a:xfrm>
          <a:prstGeom prst="roundRect">
            <a:avLst>
              <a:gd name="adj" fmla="val 9259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27000" dist="25400" dir="5400000">
              <a:srgbClr val="0A1F44">
                <a:alpha val="12000"/>
              </a:srgbClr>
            </a:outerShdw>
          </a:effectLst>
        </p:spPr>
      </p:sp>
      <p:sp>
        <p:nvSpPr>
          <p:cNvPr id="17" name="packaging icon box"/>
          <p:cNvSpPr/>
          <p:nvPr/>
        </p:nvSpPr>
        <p:spPr>
          <a:xfrm>
            <a:off x="594360" y="2642616"/>
            <a:ext cx="457200" cy="457200"/>
          </a:xfrm>
          <a:prstGeom prst="roundRect">
            <a:avLst>
              <a:gd name="adj" fmla="val 20000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8" name="packaging icon" descr="packaging icon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8660" y="2756916"/>
            <a:ext cx="228600" cy="228600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1188720" y="2487168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packaging</a:t>
            </a:r>
            <a:endParaRPr lang="en-US" sz="1400" dirty="0"/>
          </a:p>
        </p:txBody>
      </p:sp>
      <p:sp>
        <p:nvSpPr>
          <p:cNvPr id="20" name="Text 15"/>
          <p:cNvSpPr txBox="1"/>
          <p:nvPr/>
        </p:nvSpPr>
        <p:spPr>
          <a:xfrm>
            <a:off x="1188720" y="2788920"/>
            <a:ext cx="1965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Requirement and version parsing</a:t>
            </a:r>
            <a:endParaRPr lang="en-US" sz="1200" dirty="0"/>
          </a:p>
        </p:txBody>
      </p:sp>
      <p:sp>
        <p:nvSpPr>
          <p:cNvPr id="21" name="Tech tile requests + OSV.dev"/>
          <p:cNvSpPr/>
          <p:nvPr/>
        </p:nvSpPr>
        <p:spPr>
          <a:xfrm>
            <a:off x="3383280" y="2377440"/>
            <a:ext cx="2788920" cy="987552"/>
          </a:xfrm>
          <a:prstGeom prst="roundRect">
            <a:avLst>
              <a:gd name="adj" fmla="val 9259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27000" dist="25400" dir="5400000">
              <a:srgbClr val="0A1F44">
                <a:alpha val="12000"/>
              </a:srgbClr>
            </a:outerShdw>
          </a:effectLst>
        </p:spPr>
      </p:sp>
      <p:sp>
        <p:nvSpPr>
          <p:cNvPr id="22" name="requests + OSV.dev icon box"/>
          <p:cNvSpPr/>
          <p:nvPr/>
        </p:nvSpPr>
        <p:spPr>
          <a:xfrm>
            <a:off x="3520440" y="2642616"/>
            <a:ext cx="457200" cy="457200"/>
          </a:xfrm>
          <a:prstGeom prst="roundRect">
            <a:avLst>
              <a:gd name="adj" fmla="val 20000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23" name="requests + OSV.dev icon" descr="requests + OSV.dev icon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34740" y="2756916"/>
            <a:ext cx="228600" cy="228600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4114800" y="2487168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requests + OSV.dev</a:t>
            </a:r>
            <a:endParaRPr lang="en-US" sz="1400" dirty="0"/>
          </a:p>
        </p:txBody>
      </p:sp>
      <p:sp>
        <p:nvSpPr>
          <p:cNvPr id="25" name="Text 19"/>
          <p:cNvSpPr txBox="1"/>
          <p:nvPr/>
        </p:nvSpPr>
        <p:spPr>
          <a:xfrm>
            <a:off x="4114800" y="2788920"/>
            <a:ext cx="1965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Online advisory queries</a:t>
            </a:r>
            <a:endParaRPr lang="en-US" sz="1200" dirty="0"/>
          </a:p>
        </p:txBody>
      </p:sp>
      <p:sp>
        <p:nvSpPr>
          <p:cNvPr id="26" name="Tech tile Pandas + Plotly"/>
          <p:cNvSpPr/>
          <p:nvPr/>
        </p:nvSpPr>
        <p:spPr>
          <a:xfrm>
            <a:off x="457200" y="3474720"/>
            <a:ext cx="2788920" cy="987552"/>
          </a:xfrm>
          <a:prstGeom prst="roundRect">
            <a:avLst>
              <a:gd name="adj" fmla="val 9259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27000" dist="25400" dir="5400000">
              <a:srgbClr val="0A1F44">
                <a:alpha val="12000"/>
              </a:srgbClr>
            </a:outerShdw>
          </a:effectLst>
        </p:spPr>
      </p:sp>
      <p:sp>
        <p:nvSpPr>
          <p:cNvPr id="27" name="Pandas + Plotly icon box"/>
          <p:cNvSpPr/>
          <p:nvPr/>
        </p:nvSpPr>
        <p:spPr>
          <a:xfrm>
            <a:off x="594360" y="3739896"/>
            <a:ext cx="457200" cy="457200"/>
          </a:xfrm>
          <a:prstGeom prst="roundRect">
            <a:avLst>
              <a:gd name="adj" fmla="val 20000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28" name="Pandas + Plotly icon" descr="Pandas + Plotly icon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8660" y="3854196"/>
            <a:ext cx="228600" cy="228600"/>
          </a:xfrm>
          <a:prstGeom prst="rect">
            <a:avLst/>
          </a:prstGeom>
        </p:spPr>
      </p:pic>
      <p:sp>
        <p:nvSpPr>
          <p:cNvPr id="29" name="Text 22"/>
          <p:cNvSpPr txBox="1"/>
          <p:nvPr/>
        </p:nvSpPr>
        <p:spPr>
          <a:xfrm>
            <a:off x="1188720" y="3584448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Pandas + Plotly</a:t>
            </a:r>
            <a:endParaRPr lang="en-US" sz="1400" dirty="0"/>
          </a:p>
        </p:txBody>
      </p:sp>
      <p:sp>
        <p:nvSpPr>
          <p:cNvPr id="30" name="Text 23"/>
          <p:cNvSpPr txBox="1"/>
          <p:nvPr/>
        </p:nvSpPr>
        <p:spPr>
          <a:xfrm>
            <a:off x="1188720" y="3886200"/>
            <a:ext cx="1965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Tabular results and charts</a:t>
            </a:r>
            <a:endParaRPr lang="en-US" sz="1200" dirty="0"/>
          </a:p>
        </p:txBody>
      </p:sp>
      <p:sp>
        <p:nvSpPr>
          <p:cNvPr id="31" name="Tech tile SQLite"/>
          <p:cNvSpPr/>
          <p:nvPr/>
        </p:nvSpPr>
        <p:spPr>
          <a:xfrm>
            <a:off x="3383280" y="3474720"/>
            <a:ext cx="2788920" cy="987552"/>
          </a:xfrm>
          <a:prstGeom prst="roundRect">
            <a:avLst>
              <a:gd name="adj" fmla="val 9259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27000" dist="25400" dir="5400000">
              <a:srgbClr val="0A1F44">
                <a:alpha val="12000"/>
              </a:srgbClr>
            </a:outerShdw>
          </a:effectLst>
        </p:spPr>
      </p:sp>
      <p:sp>
        <p:nvSpPr>
          <p:cNvPr id="32" name="SQLite icon box"/>
          <p:cNvSpPr/>
          <p:nvPr/>
        </p:nvSpPr>
        <p:spPr>
          <a:xfrm>
            <a:off x="3520440" y="3739896"/>
            <a:ext cx="457200" cy="457200"/>
          </a:xfrm>
          <a:prstGeom prst="roundRect">
            <a:avLst>
              <a:gd name="adj" fmla="val 20000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33" name="SQLite icon" descr="SQLite icon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634740" y="3854196"/>
            <a:ext cx="228600" cy="228600"/>
          </a:xfrm>
          <a:prstGeom prst="rect">
            <a:avLst/>
          </a:prstGeom>
        </p:spPr>
      </p:pic>
      <p:sp>
        <p:nvSpPr>
          <p:cNvPr id="34" name="Text 26"/>
          <p:cNvSpPr txBox="1"/>
          <p:nvPr/>
        </p:nvSpPr>
        <p:spPr>
          <a:xfrm>
            <a:off x="4114800" y="3584448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SQLite</a:t>
            </a:r>
            <a:endParaRPr lang="en-US" sz="1400" dirty="0"/>
          </a:p>
        </p:txBody>
      </p:sp>
      <p:sp>
        <p:nvSpPr>
          <p:cNvPr id="35" name="Text 27"/>
          <p:cNvSpPr txBox="1"/>
          <p:nvPr/>
        </p:nvSpPr>
        <p:spPr>
          <a:xfrm>
            <a:off x="4114800" y="3886200"/>
            <a:ext cx="1965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Local scan history and advisory cache</a:t>
            </a:r>
            <a:endParaRPr lang="en-US" sz="1200" dirty="0"/>
          </a:p>
        </p:txBody>
      </p:sp>
      <p:sp>
        <p:nvSpPr>
          <p:cNvPr id="36" name="Testing panel"/>
          <p:cNvSpPr/>
          <p:nvPr/>
        </p:nvSpPr>
        <p:spPr>
          <a:xfrm>
            <a:off x="6355080" y="1280160"/>
            <a:ext cx="2331720" cy="3182112"/>
          </a:xfrm>
          <a:prstGeom prst="roundRect">
            <a:avLst>
              <a:gd name="adj" fmla="val 3922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  <a:effectLst>
            <a:outerShdw sx="100000" sy="100000" kx="0" ky="0" algn="bl" rotWithShape="0" blurRad="127000" dist="25400" dir="5400000">
              <a:srgbClr val="0A1F44">
                <a:alpha val="12000"/>
              </a:srgbClr>
            </a:outerShdw>
          </a:effectLst>
        </p:spPr>
      </p:sp>
      <p:sp>
        <p:nvSpPr>
          <p:cNvPr id="37" name="Text 29"/>
          <p:cNvSpPr txBox="1"/>
          <p:nvPr/>
        </p:nvSpPr>
        <p:spPr>
          <a:xfrm>
            <a:off x="6583680" y="146304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1"/>
                </a:solidFill>
              </a:rPr>
              <a:t>TESTING</a:t>
            </a:r>
            <a:endParaRPr lang="en-US" sz="1200" dirty="0"/>
          </a:p>
        </p:txBody>
      </p:sp>
      <p:sp>
        <p:nvSpPr>
          <p:cNvPr id="38" name="Text 30"/>
          <p:cNvSpPr txBox="1"/>
          <p:nvPr/>
        </p:nvSpPr>
        <p:spPr>
          <a:xfrm>
            <a:off x="6583680" y="1828800"/>
            <a:ext cx="1920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200" b="1" dirty="0">
                <a:solidFill>
                  <a:schemeClr val="bg1"/>
                </a:solidFill>
              </a:rPr>
              <a:t>26</a:t>
            </a:r>
            <a:endParaRPr lang="en-US" sz="7200" dirty="0"/>
          </a:p>
        </p:txBody>
      </p:sp>
      <p:sp>
        <p:nvSpPr>
          <p:cNvPr id="39" name="Text 31"/>
          <p:cNvSpPr txBox="1"/>
          <p:nvPr/>
        </p:nvSpPr>
        <p:spPr>
          <a:xfrm>
            <a:off x="6583680" y="288036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automated tests documented</a:t>
            </a:r>
            <a:endParaRPr lang="en-US" sz="1400" dirty="0"/>
          </a:p>
        </p:txBody>
      </p:sp>
      <p:sp>
        <p:nvSpPr>
          <p:cNvPr id="40" name="Pytest icon box"/>
          <p:cNvSpPr/>
          <p:nvPr/>
        </p:nvSpPr>
        <p:spPr>
          <a:xfrm>
            <a:off x="6583680" y="3703320"/>
            <a:ext cx="457200" cy="457200"/>
          </a:xfrm>
          <a:prstGeom prst="roundRect">
            <a:avLst>
              <a:gd name="adj" fmla="val 20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41" name="Pytest icon" descr="Pytest icon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97980" y="3817620"/>
            <a:ext cx="228600" cy="228600"/>
          </a:xfrm>
          <a:prstGeom prst="rect">
            <a:avLst/>
          </a:prstGeom>
        </p:spPr>
      </p:pic>
      <p:sp>
        <p:nvSpPr>
          <p:cNvPr id="42" name="Text 33"/>
          <p:cNvSpPr txBox="1"/>
          <p:nvPr/>
        </p:nvSpPr>
        <p:spPr>
          <a:xfrm>
            <a:off x="7178040" y="3675888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Pytest</a:t>
            </a:r>
            <a:endParaRPr lang="en-US" sz="1400" dirty="0"/>
          </a:p>
        </p:txBody>
      </p:sp>
      <p:sp>
        <p:nvSpPr>
          <p:cNvPr id="43" name="Text 34"/>
          <p:cNvSpPr txBox="1"/>
          <p:nvPr/>
        </p:nvSpPr>
        <p:spPr>
          <a:xfrm>
            <a:off x="7178040" y="393192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Automated test suite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2"/>
                </a:solidFill>
              </a:defRPr>
            </a:lvl1pPr>
          </a:lstStyle>
          <a:p>
            <a:pPr algn="r"/>
            <a:fld id="{F7021451-1387-4CA6-816F-3879F97B5CBC}" type="slidenum">
              <a:rPr b="1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1188720" y="310896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chemeClr val="accent2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1188720" y="530352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Limitations and Future Enhancements</a:t>
            </a:r>
            <a:endParaRPr lang="en-US" sz="2800" dirty="0"/>
          </a:p>
        </p:txBody>
      </p:sp>
      <p:sp>
        <p:nvSpPr>
          <p:cNvPr id="4" name="Section badge"/>
          <p:cNvSpPr/>
          <p:nvPr/>
        </p:nvSpPr>
        <p:spPr>
          <a:xfrm>
            <a:off x="457200" y="329184"/>
            <a:ext cx="566928" cy="566928"/>
          </a:xfrm>
          <a:prstGeom prst="roundRect">
            <a:avLst>
              <a:gd name="adj" fmla="val 16129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329184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13</a:t>
            </a:r>
            <a:endParaRPr lang="en-US" sz="1800" dirty="0"/>
          </a:p>
        </p:txBody>
      </p:sp>
      <p:sp>
        <p:nvSpPr>
          <p:cNvPr id="6" name="CURRENT LIMITATIONS card"/>
          <p:cNvSpPr/>
          <p:nvPr/>
        </p:nvSpPr>
        <p:spPr>
          <a:xfrm>
            <a:off x="457200" y="1280160"/>
            <a:ext cx="4023360" cy="1783080"/>
          </a:xfrm>
          <a:prstGeom prst="roundRect">
            <a:avLst>
              <a:gd name="adj" fmla="val 5128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27000" dist="25400" dir="5400000">
              <a:srgbClr val="0A1F44">
                <a:alpha val="12000"/>
              </a:srgbClr>
            </a:outerShdw>
          </a:effectLst>
        </p:spPr>
      </p:sp>
      <p:sp>
        <p:nvSpPr>
          <p:cNvPr id="7" name="CURRENT LIMITATIONS icon box"/>
          <p:cNvSpPr/>
          <p:nvPr/>
        </p:nvSpPr>
        <p:spPr>
          <a:xfrm>
            <a:off x="640080" y="1417320"/>
            <a:ext cx="457200" cy="457200"/>
          </a:xfrm>
          <a:prstGeom prst="roundRect">
            <a:avLst>
              <a:gd name="adj" fmla="val 20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8" name="CURRENT LIMITATIONS icon" descr="CURRENT LIMITATIONS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4380" y="1531620"/>
            <a:ext cx="228600" cy="228600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234440" y="141732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chemeClr val="accent2"/>
                </a:solidFill>
              </a:rPr>
              <a:t>CURRENT LIMITATIONS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640080" y="1965960"/>
            <a:ext cx="3657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Supports selected dependency manifest formats and focuses on direct dependencies. Some version ranges or unpinned dependencies may remain unresolved; advisory coverage varies by ecosystem.</a:t>
            </a:r>
            <a:endParaRPr lang="en-US" sz="1400" dirty="0"/>
          </a:p>
        </p:txBody>
      </p:sp>
      <p:sp>
        <p:nvSpPr>
          <p:cNvPr id="11" name="FUTURE ENHANCEMENTS card"/>
          <p:cNvSpPr/>
          <p:nvPr/>
        </p:nvSpPr>
        <p:spPr>
          <a:xfrm>
            <a:off x="4663440" y="1280160"/>
            <a:ext cx="4023360" cy="1783080"/>
          </a:xfrm>
          <a:prstGeom prst="roundRect">
            <a:avLst>
              <a:gd name="adj" fmla="val 5128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  <a:effectLst>
            <a:outerShdw sx="100000" sy="100000" kx="0" ky="0" algn="bl" rotWithShape="0" blurRad="127000" dist="25400" dir="5400000">
              <a:srgbClr val="0A1F44">
                <a:alpha val="12000"/>
              </a:srgbClr>
            </a:outerShdw>
          </a:effectLst>
        </p:spPr>
      </p:sp>
      <p:sp>
        <p:nvSpPr>
          <p:cNvPr id="12" name="FUTURE ENHANCEMENTS icon box"/>
          <p:cNvSpPr/>
          <p:nvPr/>
        </p:nvSpPr>
        <p:spPr>
          <a:xfrm>
            <a:off x="4846320" y="1417320"/>
            <a:ext cx="457200" cy="457200"/>
          </a:xfrm>
          <a:prstGeom prst="roundRect">
            <a:avLst>
              <a:gd name="adj" fmla="val 20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3" name="FUTURE ENHANCEMENTS icon" descr="FUTURE ENHANCEMENTS ico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60620" y="1531620"/>
            <a:ext cx="228600" cy="228600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5440680" y="141732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chemeClr val="accent1"/>
                </a:solidFill>
              </a:rPr>
              <a:t>FUTURE ENHANCEMENTS</a:t>
            </a:r>
            <a:endParaRPr lang="en-US" sz="1300" dirty="0"/>
          </a:p>
        </p:txBody>
      </p:sp>
      <p:sp>
        <p:nvSpPr>
          <p:cNvPr id="15" name="Text 11"/>
          <p:cNvSpPr txBox="1"/>
          <p:nvPr/>
        </p:nvSpPr>
        <p:spPr>
          <a:xfrm>
            <a:off x="4846320" y="1965960"/>
            <a:ext cx="3657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Add lockfile and transitive-dependency analysis, run tests after upgrades, and explore local-LLM explanations grounded in retrieved advisory records.</a:t>
            </a:r>
            <a:endParaRPr lang="en-US" sz="1400" dirty="0"/>
          </a:p>
        </p:txBody>
      </p:sp>
      <p:sp>
        <p:nvSpPr>
          <p:cNvPr id="16" name="Responsible use card"/>
          <p:cNvSpPr/>
          <p:nvPr/>
        </p:nvSpPr>
        <p:spPr>
          <a:xfrm>
            <a:off x="457200" y="3200400"/>
            <a:ext cx="8229600" cy="1417320"/>
          </a:xfrm>
          <a:prstGeom prst="roundRect">
            <a:avLst>
              <a:gd name="adj" fmla="val 6452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27000" dist="25400" dir="5400000">
              <a:srgbClr val="0A1F44">
                <a:alpha val="12000"/>
              </a:srgbClr>
            </a:outerShdw>
          </a:effectLst>
        </p:spPr>
      </p:sp>
      <p:sp>
        <p:nvSpPr>
          <p:cNvPr id="17" name="Responsible use icon box"/>
          <p:cNvSpPr/>
          <p:nvPr/>
        </p:nvSpPr>
        <p:spPr>
          <a:xfrm>
            <a:off x="640080" y="3310128"/>
            <a:ext cx="384048" cy="384048"/>
          </a:xfrm>
          <a:prstGeom prst="roundRect">
            <a:avLst>
              <a:gd name="adj" fmla="val 23810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8" name="Responsible use icon" descr="Responsible use icon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6092" y="3406140"/>
            <a:ext cx="192024" cy="192024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1143000" y="3310128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Responsible use</a:t>
            </a:r>
            <a:endParaRPr lang="en-US" sz="1600" dirty="0"/>
          </a:p>
        </p:txBody>
      </p:sp>
      <p:sp>
        <p:nvSpPr>
          <p:cNvPr id="20" name="Text 15"/>
          <p:cNvSpPr txBox="1"/>
          <p:nvPr/>
        </p:nvSpPr>
        <p:spPr>
          <a:xfrm>
            <a:off x="640080" y="3794760"/>
            <a:ext cx="7863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Do not upload private data; input is processed in memory and the report is stored locally.</a:t>
            </a:r>
            <a:endParaRPr lang="en-US" sz="1300" dirty="0"/>
          </a:p>
          <a:p>
            <a:pPr marL="177800" indent="-1778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Always re-scan after upgrading and run the project's own tests.</a:t>
            </a:r>
            <a:endParaRPr lang="en-US" sz="1300" dirty="0"/>
          </a:p>
          <a:p>
            <a:pPr marL="177800" indent="-1778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A missing advisory record is not a guarantee of security.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2"/>
                </a:solidFill>
              </a:defRPr>
            </a:lvl1pPr>
          </a:lstStyle>
          <a:p>
            <a:pPr algn="r"/>
            <a:fld id="{F7021451-1387-4CA6-816F-3879F97B5CBC}" type="slidenum">
              <a:rPr b="1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1188720" y="310896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chemeClr val="accent1"/>
                </a:solidFill>
              </a:rPr>
              <a:t>SUMMARY</a:t>
            </a:r>
            <a:endParaRPr lang="en-US" sz="11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1188720" y="530352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bg1"/>
                </a:solidFill>
              </a:rPr>
              <a:t>Conclusion and Recommendations</a:t>
            </a:r>
            <a:endParaRPr lang="en-US" sz="2800" dirty="0"/>
          </a:p>
        </p:txBody>
      </p:sp>
      <p:sp>
        <p:nvSpPr>
          <p:cNvPr id="4" name="Section badge"/>
          <p:cNvSpPr/>
          <p:nvPr/>
        </p:nvSpPr>
        <p:spPr>
          <a:xfrm>
            <a:off x="457200" y="329184"/>
            <a:ext cx="566928" cy="566928"/>
          </a:xfrm>
          <a:prstGeom prst="roundRect">
            <a:avLst>
              <a:gd name="adj" fmla="val 16129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329184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14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371600"/>
            <a:ext cx="402336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Dependency Detective turns dependency files from multiple programming languages into structured, evidence-based security information.</a:t>
            </a:r>
            <a:endParaRPr lang="en-US" sz="2000" dirty="0"/>
          </a:p>
        </p:txBody>
      </p:sp>
      <p:pic>
        <p:nvPicPr>
          <p:cNvPr id="7" name="Check 1" descr="Check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46320" y="1371600"/>
            <a:ext cx="274320" cy="27432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5257800" y="1325880"/>
            <a:ext cx="3429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Parses and validates requirements before checking versions.</a:t>
            </a:r>
            <a:endParaRPr lang="en-US" sz="1400" dirty="0"/>
          </a:p>
        </p:txBody>
      </p:sp>
      <p:pic>
        <p:nvPicPr>
          <p:cNvPr id="9" name="Check 2" descr="Check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6320" y="1993392"/>
            <a:ext cx="274320" cy="274320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5257800" y="1947672"/>
            <a:ext cx="3429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Uses OSV.dev or bundled/cached data to identify known advisory matches.</a:t>
            </a:r>
            <a:endParaRPr lang="en-US" sz="1400" dirty="0"/>
          </a:p>
        </p:txBody>
      </p:sp>
      <p:pic>
        <p:nvPicPr>
          <p:cNvPr id="11" name="Check 3" descr="Check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6320" y="2615184"/>
            <a:ext cx="274320" cy="274320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5257800" y="2569464"/>
            <a:ext cx="3429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Separates confirmed results from unresolved or unavailable checks.</a:t>
            </a:r>
            <a:endParaRPr lang="en-US" sz="1400" dirty="0"/>
          </a:p>
        </p:txBody>
      </p:sp>
      <p:pic>
        <p:nvPicPr>
          <p:cNvPr id="13" name="Check 4" descr="Check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46320" y="3236976"/>
            <a:ext cx="274320" cy="274320"/>
          </a:xfrm>
          <a:prstGeom prst="rect">
            <a:avLst/>
          </a:prstGeom>
        </p:spPr>
      </p:pic>
      <p:sp>
        <p:nvSpPr>
          <p:cNvPr id="14" name="Text 8"/>
          <p:cNvSpPr txBox="1"/>
          <p:nvPr/>
        </p:nvSpPr>
        <p:spPr>
          <a:xfrm>
            <a:off x="5257800" y="3191256"/>
            <a:ext cx="3429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Exports reports and keeps scan history for comparison.</a:t>
            </a:r>
            <a:endParaRPr lang="en-US" sz="1400" dirty="0"/>
          </a:p>
        </p:txBody>
      </p:sp>
      <p:sp>
        <p:nvSpPr>
          <p:cNvPr id="15" name="Core message"/>
          <p:cNvSpPr/>
          <p:nvPr/>
        </p:nvSpPr>
        <p:spPr>
          <a:xfrm>
            <a:off x="457200" y="3886200"/>
            <a:ext cx="8229600" cy="731520"/>
          </a:xfrm>
          <a:prstGeom prst="roundRect">
            <a:avLst>
              <a:gd name="adj" fmla="val 125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6" name="Text 10"/>
          <p:cNvSpPr txBox="1"/>
          <p:nvPr/>
        </p:nvSpPr>
        <p:spPr>
          <a:xfrm>
            <a:off x="640080" y="3886200"/>
            <a:ext cx="1737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tx1"/>
                </a:solidFill>
              </a:rPr>
              <a:t>CORE MESSAGE</a:t>
            </a:r>
            <a:endParaRPr lang="en-US" sz="1200" dirty="0"/>
          </a:p>
        </p:txBody>
      </p:sp>
      <p:sp>
        <p:nvSpPr>
          <p:cNvPr id="17" name="Text 11"/>
          <p:cNvSpPr txBox="1"/>
          <p:nvPr/>
        </p:nvSpPr>
        <p:spPr>
          <a:xfrm>
            <a:off x="2377440" y="3886200"/>
            <a:ext cx="6126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Use advisory evidence to prioritize review — then verify upgrades with tests and a fresh scan.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1"/>
                </a:solidFill>
              </a:defRPr>
            </a:lvl1pPr>
          </a:lstStyle>
          <a:p>
            <a:pPr algn="r"/>
            <a:fld id="{F7021451-1387-4CA6-816F-3879F97B5CBC}" type="slidenum">
              <a:rPr b="1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1188720" y="310896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chemeClr val="accent2"/>
                </a:solidFill>
              </a:rPr>
              <a:t>PROJECT DETAILS</a:t>
            </a:r>
            <a:endParaRPr lang="en-US" sz="11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1188720" y="530352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Project Structure</a:t>
            </a:r>
            <a:endParaRPr lang="en-US" sz="2800" dirty="0"/>
          </a:p>
        </p:txBody>
      </p:sp>
      <p:sp>
        <p:nvSpPr>
          <p:cNvPr id="4" name="Section badge"/>
          <p:cNvSpPr/>
          <p:nvPr/>
        </p:nvSpPr>
        <p:spPr>
          <a:xfrm>
            <a:off x="457200" y="329184"/>
            <a:ext cx="566928" cy="566928"/>
          </a:xfrm>
          <a:prstGeom prst="roundRect">
            <a:avLst>
              <a:gd name="adj" fmla="val 16129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329184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15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23444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2"/>
                </a:solidFill>
              </a:rPr>
              <a:t>Main modules</a:t>
            </a:r>
            <a:endParaRPr lang="en-US" sz="1800" dirty="0"/>
          </a:p>
        </p:txBody>
      </p:sp>
      <p:sp>
        <p:nvSpPr>
          <p:cNvPr id="7" name="Module row 1"/>
          <p:cNvSpPr/>
          <p:nvPr/>
        </p:nvSpPr>
        <p:spPr>
          <a:xfrm>
            <a:off x="457200" y="1691640"/>
            <a:ext cx="8229600" cy="420624"/>
          </a:xfrm>
          <a:prstGeom prst="roundRect">
            <a:avLst>
              <a:gd name="adj" fmla="val 21739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27000" dist="25400" dir="5400000">
              <a:srgbClr val="0A1F44">
                <a:alpha val="12000"/>
              </a:srgbClr>
            </a:outerShdw>
          </a:effectLst>
        </p:spPr>
      </p:sp>
      <p:sp>
        <p:nvSpPr>
          <p:cNvPr id="8" name="app.py icon box"/>
          <p:cNvSpPr/>
          <p:nvPr/>
        </p:nvSpPr>
        <p:spPr>
          <a:xfrm>
            <a:off x="548640" y="1737360"/>
            <a:ext cx="329184" cy="329184"/>
          </a:xfrm>
          <a:prstGeom prst="roundRect">
            <a:avLst>
              <a:gd name="adj" fmla="val 27778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9" name="app.py icon" descr="app.py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0936" y="1819656"/>
            <a:ext cx="164592" cy="164592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1051560" y="1691640"/>
            <a:ext cx="2194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app.py</a:t>
            </a:r>
            <a:endParaRPr lang="en-US" sz="1300" dirty="0"/>
          </a:p>
        </p:txBody>
      </p:sp>
      <p:sp>
        <p:nvSpPr>
          <p:cNvPr id="11" name="Text 8"/>
          <p:cNvSpPr txBox="1"/>
          <p:nvPr/>
        </p:nvSpPr>
        <p:spPr>
          <a:xfrm>
            <a:off x="3291840" y="1691640"/>
            <a:ext cx="5303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Streamlit dashboard</a:t>
            </a:r>
            <a:endParaRPr lang="en-US" sz="1400" dirty="0"/>
          </a:p>
        </p:txBody>
      </p:sp>
      <p:sp>
        <p:nvSpPr>
          <p:cNvPr id="12" name="Module row 2"/>
          <p:cNvSpPr/>
          <p:nvPr/>
        </p:nvSpPr>
        <p:spPr>
          <a:xfrm>
            <a:off x="457200" y="2176272"/>
            <a:ext cx="8229600" cy="420624"/>
          </a:xfrm>
          <a:prstGeom prst="roundRect">
            <a:avLst>
              <a:gd name="adj" fmla="val 21739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27000" dist="25400" dir="5400000">
              <a:srgbClr val="0A1F44">
                <a:alpha val="12000"/>
              </a:srgbClr>
            </a:outerShdw>
          </a:effectLst>
        </p:spPr>
      </p:sp>
      <p:sp>
        <p:nvSpPr>
          <p:cNvPr id="13" name="backend/core icon box"/>
          <p:cNvSpPr/>
          <p:nvPr/>
        </p:nvSpPr>
        <p:spPr>
          <a:xfrm>
            <a:off x="548640" y="2221992"/>
            <a:ext cx="329184" cy="329184"/>
          </a:xfrm>
          <a:prstGeom prst="roundRect">
            <a:avLst>
              <a:gd name="adj" fmla="val 27778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4" name="backend/core icon" descr="backend/core ico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" y="2304288"/>
            <a:ext cx="164592" cy="164592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1051560" y="2176272"/>
            <a:ext cx="2194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backend/core</a:t>
            </a:r>
            <a:endParaRPr lang="en-US" sz="1300" dirty="0"/>
          </a:p>
        </p:txBody>
      </p:sp>
      <p:sp>
        <p:nvSpPr>
          <p:cNvPr id="16" name="Text 12"/>
          <p:cNvSpPr txBox="1"/>
          <p:nvPr/>
        </p:nvSpPr>
        <p:spPr>
          <a:xfrm>
            <a:off x="3291840" y="2176272"/>
            <a:ext cx="5303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parser, matcher, scanner, remediation, comparison</a:t>
            </a:r>
            <a:endParaRPr lang="en-US" sz="1400" dirty="0"/>
          </a:p>
        </p:txBody>
      </p:sp>
      <p:sp>
        <p:nvSpPr>
          <p:cNvPr id="17" name="Module row 3"/>
          <p:cNvSpPr/>
          <p:nvPr/>
        </p:nvSpPr>
        <p:spPr>
          <a:xfrm>
            <a:off x="457200" y="2660904"/>
            <a:ext cx="8229600" cy="420624"/>
          </a:xfrm>
          <a:prstGeom prst="roundRect">
            <a:avLst>
              <a:gd name="adj" fmla="val 21739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27000" dist="25400" dir="5400000">
              <a:srgbClr val="0A1F44">
                <a:alpha val="12000"/>
              </a:srgbClr>
            </a:outerShdw>
          </a:effectLst>
        </p:spPr>
      </p:sp>
      <p:sp>
        <p:nvSpPr>
          <p:cNvPr id="18" name="backend/services icon box"/>
          <p:cNvSpPr/>
          <p:nvPr/>
        </p:nvSpPr>
        <p:spPr>
          <a:xfrm>
            <a:off x="548640" y="2706624"/>
            <a:ext cx="329184" cy="329184"/>
          </a:xfrm>
          <a:prstGeom prst="roundRect">
            <a:avLst>
              <a:gd name="adj" fmla="val 27778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9" name="backend/services icon" descr="backend/services icon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" y="2788920"/>
            <a:ext cx="164592" cy="164592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1051560" y="2660904"/>
            <a:ext cx="2194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backend/services</a:t>
            </a:r>
            <a:endParaRPr lang="en-US" sz="1300" dirty="0"/>
          </a:p>
        </p:txBody>
      </p:sp>
      <p:sp>
        <p:nvSpPr>
          <p:cNvPr id="21" name="Text 16"/>
          <p:cNvSpPr txBox="1"/>
          <p:nvPr/>
        </p:nvSpPr>
        <p:spPr>
          <a:xfrm>
            <a:off x="3291840" y="2660904"/>
            <a:ext cx="5303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OSV.dev advisory client</a:t>
            </a:r>
            <a:endParaRPr lang="en-US" sz="1400" dirty="0"/>
          </a:p>
        </p:txBody>
      </p:sp>
      <p:sp>
        <p:nvSpPr>
          <p:cNvPr id="22" name="Module row 4"/>
          <p:cNvSpPr/>
          <p:nvPr/>
        </p:nvSpPr>
        <p:spPr>
          <a:xfrm>
            <a:off x="457200" y="3145536"/>
            <a:ext cx="8229600" cy="420624"/>
          </a:xfrm>
          <a:prstGeom prst="roundRect">
            <a:avLst>
              <a:gd name="adj" fmla="val 21739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27000" dist="25400" dir="5400000">
              <a:srgbClr val="0A1F44">
                <a:alpha val="12000"/>
              </a:srgbClr>
            </a:outerShdw>
          </a:effectLst>
        </p:spPr>
      </p:sp>
      <p:sp>
        <p:nvSpPr>
          <p:cNvPr id="23" name="backend/utils icon box"/>
          <p:cNvSpPr/>
          <p:nvPr/>
        </p:nvSpPr>
        <p:spPr>
          <a:xfrm>
            <a:off x="548640" y="3191256"/>
            <a:ext cx="329184" cy="329184"/>
          </a:xfrm>
          <a:prstGeom prst="roundRect">
            <a:avLst>
              <a:gd name="adj" fmla="val 27778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24" name="backend/utils icon" descr="backend/utils icon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0936" y="3273552"/>
            <a:ext cx="164592" cy="164592"/>
          </a:xfrm>
          <a:prstGeom prst="rect">
            <a:avLst/>
          </a:prstGeom>
        </p:spPr>
      </p:pic>
      <p:sp>
        <p:nvSpPr>
          <p:cNvPr id="25" name="Text 19"/>
          <p:cNvSpPr txBox="1"/>
          <p:nvPr/>
        </p:nvSpPr>
        <p:spPr>
          <a:xfrm>
            <a:off x="1051560" y="3145536"/>
            <a:ext cx="2194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backend/utils</a:t>
            </a:r>
            <a:endParaRPr lang="en-US" sz="1300" dirty="0"/>
          </a:p>
        </p:txBody>
      </p:sp>
      <p:sp>
        <p:nvSpPr>
          <p:cNvPr id="26" name="Text 20"/>
          <p:cNvSpPr txBox="1"/>
          <p:nvPr/>
        </p:nvSpPr>
        <p:spPr>
          <a:xfrm>
            <a:off x="3291840" y="3145536"/>
            <a:ext cx="5303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validation, SQLite, report exports</a:t>
            </a:r>
            <a:endParaRPr lang="en-US" sz="1400" dirty="0"/>
          </a:p>
        </p:txBody>
      </p:sp>
      <p:sp>
        <p:nvSpPr>
          <p:cNvPr id="27" name="Module row 5"/>
          <p:cNvSpPr/>
          <p:nvPr/>
        </p:nvSpPr>
        <p:spPr>
          <a:xfrm>
            <a:off x="457200" y="3630168"/>
            <a:ext cx="8229600" cy="420624"/>
          </a:xfrm>
          <a:prstGeom prst="roundRect">
            <a:avLst>
              <a:gd name="adj" fmla="val 21739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27000" dist="25400" dir="5400000">
              <a:srgbClr val="0A1F44">
                <a:alpha val="12000"/>
              </a:srgbClr>
            </a:outerShdw>
          </a:effectLst>
        </p:spPr>
      </p:sp>
      <p:sp>
        <p:nvSpPr>
          <p:cNvPr id="28" name="pages/ icon box"/>
          <p:cNvSpPr/>
          <p:nvPr/>
        </p:nvSpPr>
        <p:spPr>
          <a:xfrm>
            <a:off x="548640" y="3675888"/>
            <a:ext cx="329184" cy="329184"/>
          </a:xfrm>
          <a:prstGeom prst="roundRect">
            <a:avLst>
              <a:gd name="adj" fmla="val 27778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29" name="pages/ icon" descr="pages/ icon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0936" y="3758184"/>
            <a:ext cx="164592" cy="164592"/>
          </a:xfrm>
          <a:prstGeom prst="rect">
            <a:avLst/>
          </a:prstGeom>
        </p:spPr>
      </p:pic>
      <p:sp>
        <p:nvSpPr>
          <p:cNvPr id="30" name="Text 23"/>
          <p:cNvSpPr txBox="1"/>
          <p:nvPr/>
        </p:nvSpPr>
        <p:spPr>
          <a:xfrm>
            <a:off x="1051560" y="3630168"/>
            <a:ext cx="2194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pages/</a:t>
            </a:r>
            <a:endParaRPr lang="en-US" sz="1300" dirty="0"/>
          </a:p>
        </p:txBody>
      </p:sp>
      <p:sp>
        <p:nvSpPr>
          <p:cNvPr id="31" name="Text 24"/>
          <p:cNvSpPr txBox="1"/>
          <p:nvPr/>
        </p:nvSpPr>
        <p:spPr>
          <a:xfrm>
            <a:off x="3291840" y="3630168"/>
            <a:ext cx="5303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scan history</a:t>
            </a:r>
            <a:endParaRPr lang="en-US" sz="1400" dirty="0"/>
          </a:p>
        </p:txBody>
      </p:sp>
      <p:sp>
        <p:nvSpPr>
          <p:cNvPr id="32" name="Module row 6"/>
          <p:cNvSpPr/>
          <p:nvPr/>
        </p:nvSpPr>
        <p:spPr>
          <a:xfrm>
            <a:off x="457200" y="4114800"/>
            <a:ext cx="8229600" cy="420624"/>
          </a:xfrm>
          <a:prstGeom prst="roundRect">
            <a:avLst>
              <a:gd name="adj" fmla="val 21739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27000" dist="25400" dir="5400000">
              <a:srgbClr val="0A1F44">
                <a:alpha val="12000"/>
              </a:srgbClr>
            </a:outerShdw>
          </a:effectLst>
        </p:spPr>
      </p:sp>
      <p:sp>
        <p:nvSpPr>
          <p:cNvPr id="33" name="tests/ icon box"/>
          <p:cNvSpPr/>
          <p:nvPr/>
        </p:nvSpPr>
        <p:spPr>
          <a:xfrm>
            <a:off x="548640" y="4160520"/>
            <a:ext cx="329184" cy="329184"/>
          </a:xfrm>
          <a:prstGeom prst="roundRect">
            <a:avLst>
              <a:gd name="adj" fmla="val 27778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34" name="tests/ icon" descr="tests/ icon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0936" y="4242816"/>
            <a:ext cx="164592" cy="164592"/>
          </a:xfrm>
          <a:prstGeom prst="rect">
            <a:avLst/>
          </a:prstGeom>
        </p:spPr>
      </p:pic>
      <p:sp>
        <p:nvSpPr>
          <p:cNvPr id="35" name="Text 27"/>
          <p:cNvSpPr txBox="1"/>
          <p:nvPr/>
        </p:nvSpPr>
        <p:spPr>
          <a:xfrm>
            <a:off x="1051560" y="4114800"/>
            <a:ext cx="2194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tests/</a:t>
            </a:r>
            <a:endParaRPr lang="en-US" sz="1300" dirty="0"/>
          </a:p>
        </p:txBody>
      </p:sp>
      <p:sp>
        <p:nvSpPr>
          <p:cNvPr id="36" name="Text 28"/>
          <p:cNvSpPr txBox="1"/>
          <p:nvPr/>
        </p:nvSpPr>
        <p:spPr>
          <a:xfrm>
            <a:off x="3291840" y="4114800"/>
            <a:ext cx="5303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parser, matcher, and scanner tests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2"/>
                </a:solidFill>
              </a:defRPr>
            </a:lvl1pPr>
          </a:lstStyle>
          <a:p>
            <a:pPr algn="r"/>
            <a:fld id="{F7021451-1387-4CA6-816F-3879F97B5CBC}" type="slidenum">
              <a:rPr b="1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1188720" y="310896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chemeClr val="accent2"/>
                </a:solidFill>
              </a:rPr>
              <a:t>TEAM</a:t>
            </a:r>
            <a:endParaRPr lang="en-US" sz="11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1188720" y="530352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Team Contribution</a:t>
            </a:r>
            <a:endParaRPr lang="en-US" sz="2800" dirty="0"/>
          </a:p>
        </p:txBody>
      </p:sp>
      <p:sp>
        <p:nvSpPr>
          <p:cNvPr id="4" name="Section badge"/>
          <p:cNvSpPr/>
          <p:nvPr/>
        </p:nvSpPr>
        <p:spPr>
          <a:xfrm>
            <a:off x="457200" y="329184"/>
            <a:ext cx="566928" cy="566928"/>
          </a:xfrm>
          <a:prstGeom prst="roundRect">
            <a:avLst>
              <a:gd name="adj" fmla="val 16129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329184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16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1143000" y="1234440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6"/>
                </a:solidFill>
              </a:rPr>
              <a:t>TEAM MEMBER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2788920" y="1234440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6"/>
                </a:solidFill>
              </a:rPr>
              <a:t>PRIMARY RESPONSIBILITY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5074920" y="1234440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6"/>
                </a:solidFill>
              </a:rPr>
              <a:t>CONTRIBUTION</a:t>
            </a:r>
            <a:endParaRPr lang="en-US" sz="1100" dirty="0"/>
          </a:p>
        </p:txBody>
      </p:sp>
      <p:sp>
        <p:nvSpPr>
          <p:cNvPr id="9" name="Team row M. Anjali"/>
          <p:cNvSpPr/>
          <p:nvPr/>
        </p:nvSpPr>
        <p:spPr>
          <a:xfrm>
            <a:off x="457200" y="1536192"/>
            <a:ext cx="8229600" cy="548640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27000" dist="25400" dir="5400000">
              <a:srgbClr val="0A1F44">
                <a:alpha val="12000"/>
              </a:srgbClr>
            </a:outerShdw>
          </a:effectLst>
        </p:spPr>
      </p:sp>
      <p:sp>
        <p:nvSpPr>
          <p:cNvPr id="10" name="Avatar M. Anjali"/>
          <p:cNvSpPr/>
          <p:nvPr/>
        </p:nvSpPr>
        <p:spPr>
          <a:xfrm>
            <a:off x="566928" y="1618488"/>
            <a:ext cx="384048" cy="38404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66928" y="16184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MA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1143000" y="1536192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M. Anjali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2788920" y="1536192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User Interface &amp; Reporting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5074920" y="1536192"/>
            <a:ext cx="3520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Focuses on presenting scan summaries, tables, visual summaries, exports and scan history clearly.</a:t>
            </a:r>
            <a:endParaRPr lang="en-US" sz="1100" dirty="0"/>
          </a:p>
        </p:txBody>
      </p:sp>
      <p:sp>
        <p:nvSpPr>
          <p:cNvPr id="15" name="Team row P. Ganesh"/>
          <p:cNvSpPr/>
          <p:nvPr/>
        </p:nvSpPr>
        <p:spPr>
          <a:xfrm>
            <a:off x="457200" y="2148840"/>
            <a:ext cx="8229600" cy="548640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27000" dist="25400" dir="5400000">
              <a:srgbClr val="0A1F44">
                <a:alpha val="12000"/>
              </a:srgbClr>
            </a:outerShdw>
          </a:effectLst>
        </p:spPr>
      </p:sp>
      <p:sp>
        <p:nvSpPr>
          <p:cNvPr id="16" name="Avatar P. Ganesh"/>
          <p:cNvSpPr/>
          <p:nvPr/>
        </p:nvSpPr>
        <p:spPr>
          <a:xfrm>
            <a:off x="566928" y="2231136"/>
            <a:ext cx="384048" cy="384048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66928" y="22311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PG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1143000" y="2148840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P. Ganesh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2788920" y="2148840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Validation &amp; Testing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5074920" y="2148840"/>
            <a:ext cx="3520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Reviews validation cases, incomplete-check states, scan results and consistency between findings and reports.</a:t>
            </a:r>
            <a:endParaRPr lang="en-US" sz="1100" dirty="0"/>
          </a:p>
        </p:txBody>
      </p:sp>
      <p:sp>
        <p:nvSpPr>
          <p:cNvPr id="21" name="Team row G. Sai Kumar"/>
          <p:cNvSpPr/>
          <p:nvPr/>
        </p:nvSpPr>
        <p:spPr>
          <a:xfrm>
            <a:off x="457200" y="2761488"/>
            <a:ext cx="8229600" cy="548640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27000" dist="25400" dir="5400000">
              <a:srgbClr val="0A1F44">
                <a:alpha val="12000"/>
              </a:srgbClr>
            </a:outerShdw>
          </a:effectLst>
        </p:spPr>
      </p:sp>
      <p:sp>
        <p:nvSpPr>
          <p:cNvPr id="22" name="Avatar G. Sai Kumar"/>
          <p:cNvSpPr/>
          <p:nvPr/>
        </p:nvSpPr>
        <p:spPr>
          <a:xfrm>
            <a:off x="566928" y="2843784"/>
            <a:ext cx="384048" cy="384048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566928" y="28437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GS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1143000" y="2761488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G. Sai Kumar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2788920" y="2761488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Documentation &amp; Coordination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5074920" y="2761488"/>
            <a:ext cx="3520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Coordinates the written record, project workflow explanation, progress notes and final submission material.</a:t>
            </a:r>
            <a:endParaRPr lang="en-US" sz="1100" dirty="0"/>
          </a:p>
        </p:txBody>
      </p:sp>
      <p:sp>
        <p:nvSpPr>
          <p:cNvPr id="27" name="Team row S. Jyothirmayi"/>
          <p:cNvSpPr/>
          <p:nvPr/>
        </p:nvSpPr>
        <p:spPr>
          <a:xfrm>
            <a:off x="457200" y="3374136"/>
            <a:ext cx="8229600" cy="548640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27000" dist="25400" dir="5400000">
              <a:srgbClr val="0A1F44">
                <a:alpha val="12000"/>
              </a:srgbClr>
            </a:outerShdw>
          </a:effectLst>
        </p:spPr>
      </p:sp>
      <p:sp>
        <p:nvSpPr>
          <p:cNvPr id="28" name="Avatar S. Jyothirmayi"/>
          <p:cNvSpPr/>
          <p:nvPr/>
        </p:nvSpPr>
        <p:spPr>
          <a:xfrm>
            <a:off x="566928" y="3456432"/>
            <a:ext cx="384048" cy="384048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566928" y="34564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SJ</a:t>
            </a:r>
            <a:endParaRPr lang="en-US" sz="1100" dirty="0"/>
          </a:p>
        </p:txBody>
      </p:sp>
      <p:sp>
        <p:nvSpPr>
          <p:cNvPr id="30" name="Text 28"/>
          <p:cNvSpPr txBox="1"/>
          <p:nvPr/>
        </p:nvSpPr>
        <p:spPr>
          <a:xfrm>
            <a:off x="1143000" y="3374136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S. Jyothirmayi</a:t>
            </a:r>
            <a:endParaRPr lang="en-US" sz="1400" dirty="0"/>
          </a:p>
        </p:txBody>
      </p:sp>
      <p:sp>
        <p:nvSpPr>
          <p:cNvPr id="31" name="Text 29"/>
          <p:cNvSpPr txBox="1"/>
          <p:nvPr/>
        </p:nvSpPr>
        <p:spPr>
          <a:xfrm>
            <a:off x="2788920" y="3374136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Core Logic &amp; Advisory Matching</a:t>
            </a:r>
            <a:endParaRPr lang="en-US" sz="1300" dirty="0"/>
          </a:p>
        </p:txBody>
      </p:sp>
      <p:sp>
        <p:nvSpPr>
          <p:cNvPr id="32" name="Text 30"/>
          <p:cNvSpPr txBox="1"/>
          <p:nvPr/>
        </p:nvSpPr>
        <p:spPr>
          <a:xfrm>
            <a:off x="5074920" y="3374136"/>
            <a:ext cx="3520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Focuses on package/version matching and checks how advisory records are compared with affected version ranges.</a:t>
            </a:r>
            <a:endParaRPr lang="en-US" sz="1100" dirty="0"/>
          </a:p>
        </p:txBody>
      </p:sp>
      <p:sp>
        <p:nvSpPr>
          <p:cNvPr id="33" name="Team row T. Indravathi"/>
          <p:cNvSpPr/>
          <p:nvPr/>
        </p:nvSpPr>
        <p:spPr>
          <a:xfrm>
            <a:off x="457200" y="3986784"/>
            <a:ext cx="8229600" cy="548640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27000" dist="25400" dir="5400000">
              <a:srgbClr val="0A1F44">
                <a:alpha val="12000"/>
              </a:srgbClr>
            </a:outerShdw>
          </a:effectLst>
        </p:spPr>
      </p:sp>
      <p:sp>
        <p:nvSpPr>
          <p:cNvPr id="34" name="Avatar T. Indravathi"/>
          <p:cNvSpPr/>
          <p:nvPr/>
        </p:nvSpPr>
        <p:spPr>
          <a:xfrm>
            <a:off x="566928" y="4069080"/>
            <a:ext cx="384048" cy="384048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566928" y="40690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TI</a:t>
            </a:r>
            <a:endParaRPr lang="en-US" sz="1100" dirty="0"/>
          </a:p>
        </p:txBody>
      </p:sp>
      <p:sp>
        <p:nvSpPr>
          <p:cNvPr id="36" name="Text 34"/>
          <p:cNvSpPr txBox="1"/>
          <p:nvPr/>
        </p:nvSpPr>
        <p:spPr>
          <a:xfrm>
            <a:off x="1143000" y="3986784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T. Indravathi</a:t>
            </a:r>
            <a:endParaRPr lang="en-US" sz="1400" dirty="0"/>
          </a:p>
        </p:txBody>
      </p:sp>
      <p:sp>
        <p:nvSpPr>
          <p:cNvPr id="37" name="Text 35"/>
          <p:cNvSpPr txBox="1"/>
          <p:nvPr/>
        </p:nvSpPr>
        <p:spPr>
          <a:xfrm>
            <a:off x="2788920" y="3986784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Input Inspection &amp; Parsing</a:t>
            </a:r>
            <a:endParaRPr lang="en-US" sz="1300" dirty="0"/>
          </a:p>
        </p:txBody>
      </p:sp>
      <p:sp>
        <p:nvSpPr>
          <p:cNvPr id="38" name="Text 36"/>
          <p:cNvSpPr txBox="1"/>
          <p:nvPr/>
        </p:nvSpPr>
        <p:spPr>
          <a:xfrm>
            <a:off x="5074920" y="3986784"/>
            <a:ext cx="3520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Reviews requirements-file structure, package entries, version specifiers, comments, duplicates and malformed lines.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2"/>
                </a:solidFill>
              </a:defRPr>
            </a:lvl1pPr>
          </a:lstStyle>
          <a:p>
            <a:pPr algn="r"/>
            <a:fld id="{F7021451-1387-4CA6-816F-3879F97B5CBC}" type="slidenum">
              <a:rPr b="1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40080" y="105156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chemeClr val="accent1"/>
                </a:solidFill>
              </a:rPr>
              <a:t>ANY QUESTIONS?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40080" y="1417320"/>
            <a:ext cx="5120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600" b="1" dirty="0">
                <a:solidFill>
                  <a:schemeClr val="bg1"/>
                </a:solidFill>
              </a:rPr>
              <a:t>Thank you</a:t>
            </a:r>
            <a:endParaRPr lang="en-US" sz="46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640080" y="2377440"/>
            <a:ext cx="4754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bg2"/>
                </a:solidFill>
              </a:rPr>
              <a:t>Dependency Detective • Multi-Language Dependency Analyzer</a:t>
            </a:r>
            <a:endParaRPr lang="en-US" sz="1500" dirty="0"/>
          </a:p>
        </p:txBody>
      </p:sp>
      <p:sp>
        <p:nvSpPr>
          <p:cNvPr id="5" name="Orbit outer"/>
          <p:cNvSpPr/>
          <p:nvPr/>
        </p:nvSpPr>
        <p:spPr>
          <a:xfrm>
            <a:off x="5760720" y="777240"/>
            <a:ext cx="3108960" cy="3108960"/>
          </a:xfrm>
          <a:prstGeom prst="ellipse">
            <a:avLst/>
          </a:prstGeom>
          <a:solidFill>
            <a:schemeClr val="tx1"/>
          </a:solidFill>
          <a:ln w="25400">
            <a:solidFill>
              <a:schemeClr val="tx2"/>
            </a:solidFill>
            <a:prstDash val="solid"/>
          </a:ln>
        </p:spPr>
      </p:sp>
      <p:sp>
        <p:nvSpPr>
          <p:cNvPr id="6" name="Orbit core"/>
          <p:cNvSpPr/>
          <p:nvPr/>
        </p:nvSpPr>
        <p:spPr>
          <a:xfrm>
            <a:off x="6355080" y="1371600"/>
            <a:ext cx="1920240" cy="192024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7" name="Shield icon" descr="Shiel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0" y="1828800"/>
            <a:ext cx="914400" cy="91440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1"/>
                </a:solidFill>
              </a:defRPr>
            </a:lvl1pPr>
          </a:lstStyle>
          <a:p>
            <a:pPr algn="r"/>
            <a:fld id="{F7021451-1387-4CA6-816F-3879F97B5CBC}" type="slidenum">
              <a:rPr b="1" lang="en-US"/>
              <a:t>18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xecutive Blue">
  <a:themeElements>
    <a:clrScheme name="Executive Blue">
      <a:dk1>
        <a:srgbClr val="0A1F44"/>
      </a:dk1>
      <a:lt1>
        <a:srgbClr val="FFFFFF"/>
      </a:lt1>
      <a:dk2>
        <a:srgbClr val="14315F"/>
      </a:dk2>
      <a:lt2>
        <a:srgbClr val="F2F6FC"/>
      </a:lt2>
      <a:accent1>
        <a:srgbClr val="F2A900"/>
      </a:accent1>
      <a:accent2>
        <a:srgbClr val="1D4ED8"/>
      </a:accent2>
      <a:accent3>
        <a:srgbClr val="D64545"/>
      </a:accent3>
      <a:accent4>
        <a:srgbClr val="7C3AED"/>
      </a:accent4>
      <a:accent5>
        <a:srgbClr val="0E9F8E"/>
      </a:accent5>
      <a:accent6>
        <a:srgbClr val="5B6B86"/>
      </a:accent6>
      <a:hlink>
        <a:srgbClr val="1D4ED8"/>
      </a:hlink>
      <a:folHlink>
        <a:srgbClr val="5B6B86"/>
      </a:folHlink>
    </a:clrScheme>
    <a:fontScheme name="Executive Blue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Dependency Detective – Final Project Presentation</dc:title>
  <dc:subject>PptxGenJS Presentation</dc:subject>
  <dc:creator>PptxGenJS</dc:creator>
  <cp:lastModifiedBy>PptxGenJS</cp:lastModifiedBy>
  <cp:revision>1</cp:revision>
  <dcterms:created xsi:type="dcterms:W3CDTF">2026-10-29T05:44:48Z</dcterms:created>
  <dcterms:modified xsi:type="dcterms:W3CDTF">2026-10-29T05:44:48Z</dcterms:modified>
</cp:coreProperties>
</file>